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1970" cy="6858000"/>
  <p:notesSz cx="6858000" cy="1219197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CJK JP"/>
                <a:ea typeface="Noto Sans CJK JP"/>
                <a:cs typeface="Noto Sans CJK JP"/>
              </a:rPr>
              <a:t>表紙。Sources: https://github.com/silloi/mbti-bot-hub (README.md, docs/submission-draft.md, skills/mbti-team-spec/SKILL.md)</a:t>
            </a:r>
            <a:endParaRPr lang="en-US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CJK JP"/>
                <a:ea typeface="Noto Sans CJK JP"/>
                <a:cs typeface="Noto Sans CJK JP"/>
              </a:rPr>
              <a:t>1</a:t>
            </a:fld>
            <a:endParaRPr lang="en-US">
              <a:latin typeface="Noto Sans CJK JP"/>
              <a:ea typeface="Noto Sans CJK JP"/>
              <a:cs typeface="Noto Sans CJK JP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CJK JP"/>
                <a:ea typeface="Noto Sans CJK JP"/>
                <a:cs typeface="Noto Sans CJK JP"/>
              </a:rPr>
              <a:t>出典: docs/submission-draft.md「詳しい説明【課題】」「審査で聞かれそうな質問」。Sources: https://github.com/silloi/mbti-bot-hub (README.md, docs/submission-draft.md, skills/mbti-team-spec/SKILL.md)</a:t>
            </a:r>
            <a:endParaRPr lang="en-US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CJK JP"/>
                <a:ea typeface="Noto Sans CJK JP"/>
                <a:cs typeface="Noto Sans CJK JP"/>
              </a:rPr>
              <a:t>2</a:t>
            </a:fld>
            <a:endParaRPr lang="en-US">
              <a:latin typeface="Noto Sans CJK JP"/>
              <a:ea typeface="Noto Sans CJK JP"/>
              <a:cs typeface="Noto Sans CJK JP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CJK JP"/>
                <a:ea typeface="Noto Sans CJK JP"/>
                <a:cs typeface="Noto Sans CJK JP"/>
              </a:rPr>
              <a:t>出典: README.md「構成」、skills/mbti-team-spec/SKILL.md「推奨チーム INTJ：ENTP／ENFP／ISTJ／ESTP」。Sources: https://github.com/silloi/mbti-bot-hub (README.md, docs/submission-draft.md, skills/mbti-team-spec/SKILL.md)</a:t>
            </a:r>
            <a:endParaRPr lang="en-US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CJK JP"/>
                <a:ea typeface="Noto Sans CJK JP"/>
                <a:cs typeface="Noto Sans CJK JP"/>
              </a:rPr>
              <a:t>3</a:t>
            </a:fld>
            <a:endParaRPr lang="en-US">
              <a:latin typeface="Noto Sans CJK JP"/>
              <a:ea typeface="Noto Sans CJK JP"/>
              <a:cs typeface="Noto Sans CJK JP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CJK JP"/>
                <a:ea typeface="Noto Sans CJK JP"/>
                <a:cs typeface="Noto Sans CJK JP"/>
              </a:rPr>
              <a:t>出典: README.md「実例」、docs/submission-draft.md（提出案の各セクション）。Sources: https://github.com/silloi/mbti-bot-hub (README.md, docs/submission-draft.md, skills/mbti-team-spec/SKILL.md)</a:t>
            </a:r>
            <a:endParaRPr lang="en-US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CJK JP"/>
                <a:ea typeface="Noto Sans CJK JP"/>
                <a:cs typeface="Noto Sans CJK JP"/>
              </a:rPr>
              <a:t>4</a:t>
            </a:fld>
            <a:endParaRPr lang="en-US">
              <a:latin typeface="Noto Sans CJK JP"/>
              <a:ea typeface="Noto Sans CJK JP"/>
              <a:cs typeface="Noto Sans CJK JP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CJK JP"/>
                <a:ea typeface="Noto Sans CJK JP"/>
                <a:cs typeface="Noto Sans CJK JP"/>
              </a:rPr>
              <a:t>出典: README.md「設計の工夫」、docs/submission-draft.md「工夫した点」、skills/mbti-team-spec/SKILL.md「5. チーム運営」。Sources: https://github.com/silloi/mbti-bot-hub (README.md, docs/submission-draft.md, skills/mbti-team-spec/SKILL.md)</a:t>
            </a:r>
            <a:endParaRPr lang="en-US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CJK JP"/>
                <a:ea typeface="Noto Sans CJK JP"/>
                <a:cs typeface="Noto Sans CJK JP"/>
              </a:rPr>
              <a:t>5</a:t>
            </a:fld>
            <a:endParaRPr lang="en-US">
              <a:latin typeface="Noto Sans CJK JP"/>
              <a:ea typeface="Noto Sans CJK JP"/>
              <a:cs typeface="Noto Sans CJK JP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CJK JP"/>
                <a:ea typeface="Noto Sans CJK JP"/>
                <a:cs typeface="Noto Sans CJK JP"/>
              </a:rPr>
              <a:t>出典: skills/mbti-team-spec/SKILL.md「1. 使い方」「4. 推奨チーム」「5. チーム運営（分担メモ）」。Sources: https://github.com/silloi/mbti-bot-hub (README.md, docs/submission-draft.md, skills/mbti-team-spec/SKILL.md)</a:t>
            </a:r>
            <a:endParaRPr lang="en-US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CJK JP"/>
                <a:ea typeface="Noto Sans CJK JP"/>
                <a:cs typeface="Noto Sans CJK JP"/>
              </a:rPr>
              <a:t>6</a:t>
            </a:fld>
            <a:endParaRPr lang="en-US">
              <a:latin typeface="Noto Sans CJK JP"/>
              <a:ea typeface="Noto Sans CJK JP"/>
              <a:cs typeface="Noto Sans CJK JP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CJK JP"/>
                <a:ea typeface="Noto Sans CJK JP"/>
                <a:cs typeface="Noto Sans CJK JP"/>
              </a:rPr>
              <a:t>出典: README.md、docs/submission-draft.md（デモ動画台本の締め、提出前チェックリスト）。Botテンプレート https://x.ai/bot/Fwf_OUvMYPcvVkKsy9jNd はユーザー提供。Sources: https://github.com/silloi/mbti-bot-hub (README.md, docs/submission-draft.md, skills/mbti-team-spec/SKILL.md)</a:t>
            </a:r>
            <a:endParaRPr lang="en-US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CJK JP"/>
                <a:ea typeface="Noto Sans CJK JP"/>
                <a:cs typeface="Noto Sans CJK JP"/>
              </a:rPr>
              <a:t>7</a:t>
            </a:fld>
            <a:endParaRPr lang="en-US">
              <a:latin typeface="Noto Sans CJK JP"/>
              <a:ea typeface="Noto Sans CJK JP"/>
              <a:cs typeface="Noto Sans CJK JP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Noto Sans CJK JP"/>
          <a:ea typeface="Noto Sans CJK JP"/>
          <a:cs typeface="Noto Sans CJK JP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Noto Sans CJK JP"/>
          <a:ea typeface="Noto Sans CJK JP"/>
          <a:cs typeface="Noto Sans CJK JP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Noto Sans CJK JP"/>
          <a:ea typeface="Noto Sans CJK JP"/>
          <a:cs typeface="Noto Sans CJK JP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Noto Sans CJK JP"/>
          <a:ea typeface="Noto Sans CJK JP"/>
          <a:cs typeface="Noto Sans CJK JP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Noto Sans CJK JP"/>
          <a:ea typeface="Noto Sans CJK JP"/>
          <a:cs typeface="Noto Sans CJK JP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Noto Sans CJK JP"/>
          <a:ea typeface="Noto Sans CJK JP"/>
          <a:cs typeface="Noto Sans CJK JP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Noto Sans CJK JP"/>
          <a:ea typeface="Noto Sans CJK JP"/>
          <a:cs typeface="Noto Sans CJK JP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Noto Sans CJK JP"/>
          <a:ea typeface="Noto Sans CJK JP"/>
          <a:cs typeface="Noto Sans CJK JP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Noto Sans CJK JP"/>
          <a:ea typeface="Noto Sans CJK JP"/>
          <a:cs typeface="Noto Sans CJK JP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Noto Sans CJK JP"/>
          <a:ea typeface="Noto Sans CJK JP"/>
          <a:cs typeface="Noto Sans CJK JP"/>
        </a:defRPr>
      </a:lvl9pPr>
    </p:bodyStyle>
    <p:otherStyle>
      <a:defPPr>
        <a:defRPr lang="en-US">
          <a:latin typeface="Noto Sans CJK JP"/>
          <a:ea typeface="Noto Sans CJK JP"/>
          <a:cs typeface="Noto Sans CJK JP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Noto Sans CJK JP"/>
          <a:ea typeface="Noto Sans CJK JP"/>
          <a:cs typeface="Noto Sans CJK JP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Noto Sans CJK JP"/>
          <a:ea typeface="Noto Sans CJK JP"/>
          <a:cs typeface="Noto Sans CJK JP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Noto Sans CJK JP"/>
          <a:ea typeface="Noto Sans CJK JP"/>
          <a:cs typeface="Noto Sans CJK JP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Noto Sans CJK JP"/>
          <a:ea typeface="Noto Sans CJK JP"/>
          <a:cs typeface="Noto Sans CJK JP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Noto Sans CJK JP"/>
          <a:ea typeface="Noto Sans CJK JP"/>
          <a:cs typeface="Noto Sans CJK JP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Noto Sans CJK JP"/>
          <a:ea typeface="Noto Sans CJK JP"/>
          <a:cs typeface="Noto Sans CJK JP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Noto Sans CJK JP"/>
          <a:ea typeface="Noto Sans CJK JP"/>
          <a:cs typeface="Noto Sans CJK JP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Noto Sans CJK JP"/>
          <a:ea typeface="Noto Sans CJK JP"/>
          <a:cs typeface="Noto Sans CJK JP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Noto Sans CJK JP"/>
          <a:ea typeface="Noto Sans CJK JP"/>
          <a:cs typeface="Noto Sans CJK JP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hyperlink" Target="https://github.com/silloi/mbti-bot-hub" TargetMode="External"/><Relationship Id="rId2" Type="http://schemas.openxmlformats.org/officeDocument/2006/relationships/hyperlink" Target="https://x.ai/bot/Fwf_OUvMYPcvVkKsy9jN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246888"/>
          </a:xfrm>
          <a:prstGeom prst="rect">
            <a:avLst/>
          </a:prstGeom>
          <a:solidFill>
            <a:srgbClr val="1A2F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"/>
            <a:ext cx="12191970" cy="246888"/>
          </a:xfrm>
          <a:prstGeom prst="rect">
            <a:avLst/>
          </a:prstGeom>
          <a:solidFill>
            <a:srgbClr val="1A2F5E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0"/>
            <a:ext cx="12191970" cy="246888"/>
          </a:xfrm>
          <a:prstGeom prst="rect">
            <a:avLst/>
          </a:prstGeom>
          <a:solidFill>
            <a:srgbClr val="1A2F5E">
              <a:alpha val="9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5800"/>
            <a:ext cx="12191970" cy="246888"/>
          </a:xfrm>
          <a:prstGeom prst="rect">
            <a:avLst/>
          </a:prstGeom>
          <a:solidFill>
            <a:srgbClr val="1A2F5E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14400"/>
            <a:ext cx="12191970" cy="246888"/>
          </a:xfrm>
          <a:prstGeom prst="rect">
            <a:avLst/>
          </a:prstGeom>
          <a:solidFill>
            <a:srgbClr val="1A2F5E">
              <a:alpha val="8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143000"/>
            <a:ext cx="12191970" cy="246888"/>
          </a:xfrm>
          <a:prstGeom prst="rect">
            <a:avLst/>
          </a:prstGeom>
          <a:solidFill>
            <a:srgbClr val="1A2F5E">
              <a:alpha val="8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71600"/>
            <a:ext cx="12191970" cy="246888"/>
          </a:xfrm>
          <a:prstGeom prst="rect">
            <a:avLst/>
          </a:prstGeom>
          <a:solidFill>
            <a:srgbClr val="1A2F5E">
              <a:alpha val="7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600200"/>
            <a:ext cx="12191970" cy="246888"/>
          </a:xfrm>
          <a:prstGeom prst="rect">
            <a:avLst/>
          </a:prstGeom>
          <a:solidFill>
            <a:srgbClr val="1A2F5E">
              <a:alpha val="7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8800"/>
            <a:ext cx="12191970" cy="246888"/>
          </a:xfrm>
          <a:prstGeom prst="rect">
            <a:avLst/>
          </a:prstGeom>
          <a:solidFill>
            <a:srgbClr val="1A2F5E">
              <a:alpha val="7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57400"/>
            <a:ext cx="12191970" cy="246888"/>
          </a:xfrm>
          <a:prstGeom prst="rect">
            <a:avLst/>
          </a:prstGeom>
          <a:solidFill>
            <a:srgbClr val="1A2F5E">
              <a:alpha val="6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286000"/>
            <a:ext cx="12191970" cy="246888"/>
          </a:xfrm>
          <a:prstGeom prst="rect">
            <a:avLst/>
          </a:prstGeom>
          <a:solidFill>
            <a:srgbClr val="1A2F5E">
              <a:alpha val="6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14600"/>
            <a:ext cx="12191970" cy="246888"/>
          </a:xfrm>
          <a:prstGeom prst="rect">
            <a:avLst/>
          </a:prstGeom>
          <a:solidFill>
            <a:srgbClr val="1A2F5E">
              <a:alpha val="6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743200"/>
            <a:ext cx="12191970" cy="246888"/>
          </a:xfrm>
          <a:prstGeom prst="rect">
            <a:avLst/>
          </a:prstGeom>
          <a:solidFill>
            <a:srgbClr val="1A2F5E">
              <a:alpha val="59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971800"/>
            <a:ext cx="12191970" cy="246888"/>
          </a:xfrm>
          <a:prstGeom prst="rect">
            <a:avLst/>
          </a:prstGeom>
          <a:solidFill>
            <a:srgbClr val="1A2F5E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3200400"/>
            <a:ext cx="12191970" cy="246888"/>
          </a:xfrm>
          <a:prstGeom prst="rect">
            <a:avLst/>
          </a:prstGeom>
          <a:solidFill>
            <a:srgbClr val="1A2F5E">
              <a:alpha val="5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3429000"/>
            <a:ext cx="12191970" cy="246888"/>
          </a:xfrm>
          <a:prstGeom prst="rect">
            <a:avLst/>
          </a:prstGeom>
          <a:solidFill>
            <a:srgbClr val="1A2F5E">
              <a:alpha val="4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3657600"/>
            <a:ext cx="12191970" cy="246888"/>
          </a:xfrm>
          <a:prstGeom prst="rect">
            <a:avLst/>
          </a:prstGeom>
          <a:solidFill>
            <a:srgbClr val="1A2F5E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3886200"/>
            <a:ext cx="12191970" cy="246888"/>
          </a:xfrm>
          <a:prstGeom prst="rect">
            <a:avLst/>
          </a:prstGeom>
          <a:solidFill>
            <a:srgbClr val="1A2F5E">
              <a:alpha val="41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4114800"/>
            <a:ext cx="12191970" cy="246888"/>
          </a:xfrm>
          <a:prstGeom prst="rect">
            <a:avLst/>
          </a:prstGeom>
          <a:solidFill>
            <a:srgbClr val="1A2F5E">
              <a:alpha val="3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4343400"/>
            <a:ext cx="12191970" cy="246888"/>
          </a:xfrm>
          <a:prstGeom prst="rect">
            <a:avLst/>
          </a:prstGeom>
          <a:solidFill>
            <a:srgbClr val="1A2F5E">
              <a:alpha val="3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572000"/>
            <a:ext cx="12191970" cy="246888"/>
          </a:xfrm>
          <a:prstGeom prst="rect">
            <a:avLst/>
          </a:prstGeom>
          <a:solidFill>
            <a:srgbClr val="1A2F5E">
              <a:alpha val="31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4800600"/>
            <a:ext cx="12191970" cy="246888"/>
          </a:xfrm>
          <a:prstGeom prst="rect">
            <a:avLst/>
          </a:prstGeom>
          <a:solidFill>
            <a:srgbClr val="1A2F5E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5029200"/>
            <a:ext cx="12191970" cy="246888"/>
          </a:xfrm>
          <a:prstGeom prst="rect">
            <a:avLst/>
          </a:prstGeom>
          <a:solidFill>
            <a:srgbClr val="1A2F5E">
              <a:alpha val="2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257800"/>
            <a:ext cx="12191970" cy="246888"/>
          </a:xfrm>
          <a:prstGeom prst="rect">
            <a:avLst/>
          </a:prstGeom>
          <a:solidFill>
            <a:srgbClr val="1A2F5E">
              <a:alpha val="21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5486400"/>
            <a:ext cx="12191970" cy="246888"/>
          </a:xfrm>
          <a:prstGeom prst="rect">
            <a:avLst/>
          </a:prstGeom>
          <a:solidFill>
            <a:srgbClr val="1A2F5E">
              <a:alpha val="17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5715000"/>
            <a:ext cx="12191970" cy="246888"/>
          </a:xfrm>
          <a:prstGeom prst="rect">
            <a:avLst/>
          </a:prstGeom>
          <a:solidFill>
            <a:srgbClr val="1A2F5E">
              <a:alpha val="1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5943600"/>
            <a:ext cx="12191970" cy="246888"/>
          </a:xfrm>
          <a:prstGeom prst="rect">
            <a:avLst/>
          </a:prstGeom>
          <a:solidFill>
            <a:srgbClr val="1A2F5E">
              <a:alpha val="1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6172200"/>
            <a:ext cx="12191970" cy="246888"/>
          </a:xfrm>
          <a:prstGeom prst="rect">
            <a:avLst/>
          </a:prstGeom>
          <a:solidFill>
            <a:srgbClr val="1A2F5E">
              <a:alpha val="7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400800"/>
            <a:ext cx="12191970" cy="246888"/>
          </a:xfrm>
          <a:prstGeom prst="rect">
            <a:avLst/>
          </a:prstGeom>
          <a:solidFill>
            <a:srgbClr val="1A2F5E">
              <a:alpha val="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6629400"/>
            <a:ext cx="12191970" cy="246888"/>
          </a:xfrm>
          <a:prstGeom prst="rect">
            <a:avLst/>
          </a:prstGeom>
          <a:solidFill>
            <a:srgbClr val="1A2F5E">
              <a:alpha val="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1505907" y="462043"/>
                </a:moveTo>
                <a:lnTo>
                  <a:pt x="3031038" y="462043"/>
                </a:lnTo>
                <a:lnTo>
                  <a:pt x="3204058" y="290326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3194445" y="1561386"/>
                </a:moveTo>
                <a:lnTo>
                  <a:pt x="2534410" y="1561386"/>
                </a:lnTo>
                <a:lnTo>
                  <a:pt x="2528001" y="1568467"/>
                </a:lnTo>
                <a:lnTo>
                  <a:pt x="2505573" y="1557845"/>
                </a:lnTo>
                <a:lnTo>
                  <a:pt x="2502369" y="1545453"/>
                </a:lnTo>
                <a:lnTo>
                  <a:pt x="2310126" y="1354263"/>
                </a:lnTo>
                <a:lnTo>
                  <a:pt x="1541152" y="1354263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3200854" y="1051545"/>
                </a:moveTo>
                <a:lnTo>
                  <a:pt x="3063079" y="1187857"/>
                </a:lnTo>
                <a:lnTo>
                  <a:pt x="2300513" y="1187857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3194445" y="7081"/>
                </a:moveTo>
                <a:lnTo>
                  <a:pt x="2592083" y="7081"/>
                </a:lnTo>
                <a:lnTo>
                  <a:pt x="2262065" y="336353"/>
                </a:lnTo>
                <a:lnTo>
                  <a:pt x="839463" y="336353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3184833" y="616057"/>
                </a:moveTo>
                <a:lnTo>
                  <a:pt x="3184833" y="631989"/>
                </a:lnTo>
                <a:lnTo>
                  <a:pt x="2797142" y="1019680"/>
                </a:lnTo>
                <a:lnTo>
                  <a:pt x="2640143" y="1019680"/>
                </a:lnTo>
                <a:lnTo>
                  <a:pt x="2431880" y="812558"/>
                </a:lnTo>
                <a:lnTo>
                  <a:pt x="1887190" y="812558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3184833" y="616057"/>
                </a:moveTo>
                <a:lnTo>
                  <a:pt x="935585" y="616057"/>
                </a:lnTo>
                <a:lnTo>
                  <a:pt x="509445" y="1044464"/>
                </a:lnTo>
                <a:lnTo>
                  <a:pt x="140979" y="1044464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448568" y="1561386"/>
                </a:moveTo>
                <a:lnTo>
                  <a:pt x="977238" y="1561386"/>
                </a:lnTo>
                <a:lnTo>
                  <a:pt x="1352112" y="1187857"/>
                </a:lnTo>
                <a:lnTo>
                  <a:pt x="2053801" y="1187857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2156331" y="1561386"/>
                </a:moveTo>
                <a:lnTo>
                  <a:pt x="2505573" y="1561386"/>
                </a:lnTo>
                <a:lnTo>
                  <a:pt x="2528001" y="1568467"/>
                </a:lnTo>
                <a:lnTo>
                  <a:pt x="2720245" y="1766738"/>
                </a:lnTo>
                <a:lnTo>
                  <a:pt x="3191241" y="1766738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3204" y="1295844"/>
                </a:moveTo>
                <a:lnTo>
                  <a:pt x="608771" y="1295844"/>
                </a:lnTo>
                <a:lnTo>
                  <a:pt x="1095788" y="809017"/>
                </a:lnTo>
                <a:lnTo>
                  <a:pt x="1589213" y="809017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2809959" y="1186087"/>
                </a:moveTo>
                <a:lnTo>
                  <a:pt x="2646552" y="1023221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2819571" y="1189627"/>
                </a:moveTo>
                <a:lnTo>
                  <a:pt x="3011814" y="1389669"/>
                </a:lnTo>
                <a:lnTo>
                  <a:pt x="3194445" y="1389669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2640143" y="1016140"/>
                </a:moveTo>
                <a:lnTo>
                  <a:pt x="1204726" y="1016140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84325" y="692581"/>
            <a:ext cx="108938" cy="108938"/>
          </a:xfrm>
          <a:prstGeom prst="ellipse">
            <a:avLst/>
          </a:prstGeom>
          <a:solidFill>
            <a:srgbClr val="4C7DF0"/>
          </a:solidFill>
          <a:ln/>
        </p:spPr>
      </p:sp>
      <p:sp>
        <p:nvSpPr>
          <p:cNvPr id="45" name="Shape 43"/>
          <p:cNvSpPr/>
          <p:nvPr/>
        </p:nvSpPr>
        <p:spPr>
          <a:xfrm>
            <a:off x="9484325" y="711293"/>
            <a:ext cx="128162" cy="128162"/>
          </a:xfrm>
          <a:prstGeom prst="ellipse">
            <a:avLst/>
          </a:prstGeom>
          <a:solidFill>
            <a:srgbClr val="4C7DF0"/>
          </a:solidFill>
          <a:ln/>
        </p:spPr>
      </p:sp>
      <p:sp>
        <p:nvSpPr>
          <p:cNvPr id="46" name="Shape 44"/>
          <p:cNvSpPr/>
          <p:nvPr/>
        </p:nvSpPr>
        <p:spPr>
          <a:xfrm>
            <a:off x="9711813" y="-256712"/>
            <a:ext cx="134570" cy="134570"/>
          </a:xfrm>
          <a:prstGeom prst="ellipse">
            <a:avLst/>
          </a:prstGeom>
          <a:ln w="11430">
            <a:solidFill>
              <a:srgbClr val="4C7D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381461" y="-132793"/>
            <a:ext cx="134570" cy="134570"/>
          </a:xfrm>
          <a:prstGeom prst="ellipse">
            <a:avLst/>
          </a:prstGeom>
          <a:ln w="11430">
            <a:solidFill>
              <a:srgbClr val="4C7D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413502" y="759427"/>
            <a:ext cx="134570" cy="134570"/>
          </a:xfrm>
          <a:prstGeom prst="ellipse">
            <a:avLst/>
          </a:prstGeom>
          <a:ln w="11430">
            <a:solidFill>
              <a:srgbClr val="4C7D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102374" y="585179"/>
            <a:ext cx="153795" cy="153795"/>
          </a:xfrm>
          <a:prstGeom prst="ellipse">
            <a:avLst/>
          </a:prstGeom>
          <a:solidFill>
            <a:srgbClr val="4C7DF0"/>
          </a:solidFill>
          <a:ln/>
        </p:spPr>
      </p:sp>
      <p:sp>
        <p:nvSpPr>
          <p:cNvPr id="50" name="Shape 48"/>
          <p:cNvSpPr/>
          <p:nvPr/>
        </p:nvSpPr>
        <p:spPr>
          <a:xfrm>
            <a:off x="-174650" y="5960974"/>
            <a:ext cx="3840480" cy="1338682"/>
          </a:xfrm>
          <a:custGeom>
            <a:avLst/>
            <a:gdLst/>
            <a:ahLst/>
            <a:cxnLst/>
            <a:rect l="l" t="t" r="r" b="b"/>
            <a:pathLst>
              <a:path w="3840480" h="1338682">
                <a:moveTo>
                  <a:pt x="979322" y="1334666"/>
                </a:moveTo>
                <a:lnTo>
                  <a:pt x="1344168" y="969205"/>
                </a:lnTo>
                <a:lnTo>
                  <a:pt x="1877995" y="969205"/>
                </a:lnTo>
                <a:lnTo>
                  <a:pt x="2219797" y="629180"/>
                </a:lnTo>
                <a:lnTo>
                  <a:pt x="2327331" y="629180"/>
                </a:lnTo>
                <a:lnTo>
                  <a:pt x="2327331" y="642567"/>
                </a:lnTo>
                <a:lnTo>
                  <a:pt x="2442545" y="757694"/>
                </a:lnTo>
                <a:lnTo>
                  <a:pt x="2784348" y="757694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-174650" y="5960974"/>
            <a:ext cx="3840480" cy="1338682"/>
          </a:xfrm>
          <a:custGeom>
            <a:avLst/>
            <a:gdLst/>
            <a:ahLst/>
            <a:cxnLst/>
            <a:rect l="l" t="t" r="r" b="b"/>
            <a:pathLst>
              <a:path w="3840480" h="1338682">
                <a:moveTo>
                  <a:pt x="7681" y="4016"/>
                </a:moveTo>
                <a:lnTo>
                  <a:pt x="649041" y="646583"/>
                </a:lnTo>
                <a:lnTo>
                  <a:pt x="902513" y="646583"/>
                </a:lnTo>
                <a:lnTo>
                  <a:pt x="1063813" y="484603"/>
                </a:lnTo>
                <a:lnTo>
                  <a:pt x="1405616" y="484603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-174650" y="5960974"/>
            <a:ext cx="3840480" cy="1338682"/>
          </a:xfrm>
          <a:custGeom>
            <a:avLst/>
            <a:gdLst/>
            <a:ahLst/>
            <a:cxnLst/>
            <a:rect l="l" t="t" r="r" b="b"/>
            <a:pathLst>
              <a:path w="3840480" h="1338682">
                <a:moveTo>
                  <a:pt x="1417137" y="480587"/>
                </a:moveTo>
                <a:lnTo>
                  <a:pt x="1490106" y="408298"/>
                </a:lnTo>
                <a:lnTo>
                  <a:pt x="2093062" y="408298"/>
                </a:lnTo>
                <a:lnTo>
                  <a:pt x="2311969" y="629180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-174650" y="5960974"/>
            <a:ext cx="3840480" cy="1338682"/>
          </a:xfrm>
          <a:custGeom>
            <a:avLst/>
            <a:gdLst/>
            <a:ahLst/>
            <a:cxnLst/>
            <a:rect l="l" t="t" r="r" b="b"/>
            <a:pathLst>
              <a:path w="3840480" h="1338682">
                <a:moveTo>
                  <a:pt x="1835749" y="745646"/>
                </a:moveTo>
                <a:lnTo>
                  <a:pt x="1724376" y="858095"/>
                </a:lnTo>
                <a:lnTo>
                  <a:pt x="1021568" y="858095"/>
                </a:lnTo>
                <a:lnTo>
                  <a:pt x="729691" y="1149927"/>
                </a:lnTo>
                <a:lnTo>
                  <a:pt x="664403" y="1178040"/>
                </a:lnTo>
                <a:lnTo>
                  <a:pt x="3840" y="1178040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-174650" y="5960974"/>
            <a:ext cx="3840480" cy="1338682"/>
          </a:xfrm>
          <a:custGeom>
            <a:avLst/>
            <a:gdLst/>
            <a:ahLst/>
            <a:cxnLst/>
            <a:rect l="l" t="t" r="r" b="b"/>
            <a:pathLst>
              <a:path w="3840480" h="1338682">
                <a:moveTo>
                  <a:pt x="729691" y="1149927"/>
                </a:moveTo>
                <a:lnTo>
                  <a:pt x="741213" y="1176701"/>
                </a:lnTo>
                <a:lnTo>
                  <a:pt x="722010" y="1214184"/>
                </a:lnTo>
                <a:lnTo>
                  <a:pt x="679765" y="1214184"/>
                </a:lnTo>
                <a:lnTo>
                  <a:pt x="664403" y="1176701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-174650" y="5960974"/>
            <a:ext cx="3840480" cy="1338682"/>
          </a:xfrm>
          <a:custGeom>
            <a:avLst/>
            <a:gdLst/>
            <a:ahLst/>
            <a:cxnLst/>
            <a:rect l="l" t="t" r="r" b="b"/>
            <a:pathLst>
              <a:path w="3840480" h="1338682">
                <a:moveTo>
                  <a:pt x="1835749" y="738952"/>
                </a:moveTo>
                <a:lnTo>
                  <a:pt x="2054657" y="520747"/>
                </a:lnTo>
                <a:lnTo>
                  <a:pt x="2530876" y="520747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-174650" y="5960974"/>
            <a:ext cx="3840480" cy="1338682"/>
          </a:xfrm>
          <a:custGeom>
            <a:avLst/>
            <a:gdLst/>
            <a:ahLst/>
            <a:cxnLst/>
            <a:rect l="l" t="t" r="r" b="b"/>
            <a:pathLst>
              <a:path w="3840480" h="1338682">
                <a:moveTo>
                  <a:pt x="2327331" y="630519"/>
                </a:moveTo>
                <a:lnTo>
                  <a:pt x="3202960" y="630519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-174650" y="5960974"/>
            <a:ext cx="3840480" cy="1338682"/>
          </a:xfrm>
          <a:custGeom>
            <a:avLst/>
            <a:gdLst/>
            <a:ahLst/>
            <a:cxnLst/>
            <a:rect l="l" t="t" r="r" b="b"/>
            <a:pathLst>
              <a:path w="3840480" h="1338682">
                <a:moveTo>
                  <a:pt x="3840480" y="615794"/>
                </a:moveTo>
                <a:lnTo>
                  <a:pt x="3625413" y="615794"/>
                </a:lnTo>
                <a:lnTo>
                  <a:pt x="3364260" y="875498"/>
                </a:lnTo>
                <a:lnTo>
                  <a:pt x="1974007" y="875498"/>
                </a:lnTo>
                <a:lnTo>
                  <a:pt x="1578437" y="479248"/>
                </a:lnTo>
                <a:lnTo>
                  <a:pt x="1417137" y="479248"/>
                </a:lnTo>
                <a:lnTo>
                  <a:pt x="1251996" y="647922"/>
                </a:lnTo>
                <a:lnTo>
                  <a:pt x="890991" y="647922"/>
                </a:lnTo>
                <a:lnTo>
                  <a:pt x="764256" y="773758"/>
                </a:lnTo>
                <a:lnTo>
                  <a:pt x="453177" y="773758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22694" y="6637491"/>
            <a:ext cx="138257" cy="138257"/>
          </a:xfrm>
          <a:prstGeom prst="ellipse">
            <a:avLst/>
          </a:prstGeom>
          <a:solidFill>
            <a:srgbClr val="4C7DF0"/>
          </a:solidFill>
          <a:ln/>
        </p:spPr>
      </p:sp>
      <p:sp>
        <p:nvSpPr>
          <p:cNvPr id="59" name="Shape 57"/>
          <p:cNvSpPr/>
          <p:nvPr/>
        </p:nvSpPr>
        <p:spPr>
          <a:xfrm>
            <a:off x="1591970" y="6608040"/>
            <a:ext cx="138257" cy="138257"/>
          </a:xfrm>
          <a:prstGeom prst="ellipse">
            <a:avLst/>
          </a:prstGeom>
          <a:solidFill>
            <a:srgbClr val="4C7DF0"/>
          </a:solidFill>
          <a:ln/>
        </p:spPr>
      </p:sp>
      <p:sp>
        <p:nvSpPr>
          <p:cNvPr id="60" name="Shape 58"/>
          <p:cNvSpPr/>
          <p:nvPr/>
        </p:nvSpPr>
        <p:spPr>
          <a:xfrm>
            <a:off x="1591970" y="6666942"/>
            <a:ext cx="138257" cy="138257"/>
          </a:xfrm>
          <a:prstGeom prst="ellipse">
            <a:avLst/>
          </a:prstGeom>
          <a:solidFill>
            <a:srgbClr val="4C7DF0"/>
          </a:solidFill>
          <a:ln/>
        </p:spPr>
      </p:sp>
      <p:sp>
        <p:nvSpPr>
          <p:cNvPr id="61" name="Shape 59"/>
          <p:cNvSpPr/>
          <p:nvPr/>
        </p:nvSpPr>
        <p:spPr>
          <a:xfrm>
            <a:off x="1565087" y="6637491"/>
            <a:ext cx="138257" cy="138257"/>
          </a:xfrm>
          <a:prstGeom prst="ellipse">
            <a:avLst/>
          </a:prstGeom>
          <a:solidFill>
            <a:srgbClr val="4C7DF0"/>
          </a:solidFill>
          <a:ln/>
        </p:spPr>
      </p:sp>
      <p:sp>
        <p:nvSpPr>
          <p:cNvPr id="62" name="Shape 60"/>
          <p:cNvSpPr/>
          <p:nvPr/>
        </p:nvSpPr>
        <p:spPr>
          <a:xfrm>
            <a:off x="1169518" y="6352703"/>
            <a:ext cx="153619" cy="153619"/>
          </a:xfrm>
          <a:prstGeom prst="ellipse">
            <a:avLst/>
          </a:prstGeom>
          <a:ln w="11430">
            <a:solidFill>
              <a:srgbClr val="4C7D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57996" y="6378489"/>
            <a:ext cx="168981" cy="168981"/>
          </a:xfrm>
          <a:prstGeom prst="ellipse">
            <a:avLst/>
          </a:prstGeom>
          <a:solidFill>
            <a:srgbClr val="4C7DF0"/>
          </a:solidFill>
          <a:ln/>
        </p:spPr>
      </p:sp>
      <p:sp>
        <p:nvSpPr>
          <p:cNvPr id="64" name="Shape 62"/>
          <p:cNvSpPr/>
          <p:nvPr/>
        </p:nvSpPr>
        <p:spPr>
          <a:xfrm>
            <a:off x="439826" y="7040960"/>
            <a:ext cx="161300" cy="161300"/>
          </a:xfrm>
          <a:prstGeom prst="ellipse">
            <a:avLst/>
          </a:prstGeom>
          <a:solidFill>
            <a:srgbClr val="4C7DF0"/>
          </a:solidFill>
          <a:ln/>
        </p:spPr>
      </p:sp>
      <p:sp>
        <p:nvSpPr>
          <p:cNvPr id="65" name="Shape 63"/>
          <p:cNvSpPr/>
          <p:nvPr/>
        </p:nvSpPr>
        <p:spPr>
          <a:xfrm>
            <a:off x="11831422" y="0"/>
            <a:ext cx="239573" cy="6858000"/>
          </a:xfrm>
          <a:prstGeom prst="rect">
            <a:avLst/>
          </a:prstGeom>
          <a:solidFill>
            <a:srgbClr val="2D4C8C">
              <a:alpha val="4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22960" y="1234440"/>
            <a:ext cx="1920240" cy="1920240"/>
          </a:xfrm>
          <a:custGeom>
            <a:avLst/>
            <a:gdLst/>
            <a:ahLst/>
            <a:cxnLst/>
            <a:rect l="l" t="t" r="r" b="b"/>
            <a:pathLst>
              <a:path w="1920240" h="1920240">
                <a:moveTo>
                  <a:pt x="320040" y="0"/>
                </a:moveTo>
                <a:lnTo>
                  <a:pt x="1920240" y="0"/>
                </a:lnTo>
                <a:lnTo>
                  <a:pt x="1920240" y="1600200"/>
                </a:lnTo>
                <a:lnTo>
                  <a:pt x="1600200" y="1920240"/>
                </a:lnTo>
                <a:lnTo>
                  <a:pt x="0" y="1920240"/>
                </a:lnTo>
                <a:lnTo>
                  <a:pt x="0" y="320040"/>
                </a:lnTo>
                <a:close/>
              </a:path>
            </a:pathLst>
          </a:custGeom>
          <a:solidFill>
            <a:srgbClr val="9B7BF0"/>
          </a:solidFill>
          <a:ln/>
        </p:spPr>
      </p:sp>
      <p:sp>
        <p:nvSpPr>
          <p:cNvPr id="67" name="Text 65"/>
          <p:cNvSpPr/>
          <p:nvPr/>
        </p:nvSpPr>
        <p:spPr>
          <a:xfrm>
            <a:off x="822960" y="1737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1428"/>
                </a:solidFill>
                <a:latin typeface="Noto Sans CJK JP"/>
                <a:ea typeface="Noto Sans CJK JP"/>
                <a:cs typeface="Noto Sans CJK JP"/>
              </a:rPr>
              <a:t>ENTP</a:t>
            </a:r>
            <a:endParaRPr lang="en-US" sz="26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82296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1428"/>
                </a:solidFill>
                <a:latin typeface="Noto Sans CJK JP"/>
                <a:ea typeface="Noto Sans CJK JP"/>
                <a:cs typeface="Noto Sans CJK JP"/>
              </a:rPr>
              <a:t>分析家</a:t>
            </a:r>
            <a:endParaRPr lang="en-US" sz="16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2971800" y="1234440"/>
            <a:ext cx="1920240" cy="1920240"/>
          </a:xfrm>
          <a:custGeom>
            <a:avLst/>
            <a:gdLst/>
            <a:ahLst/>
            <a:cxnLst/>
            <a:rect l="l" t="t" r="r" b="b"/>
            <a:pathLst>
              <a:path w="1920240" h="1920240">
                <a:moveTo>
                  <a:pt x="320040" y="0"/>
                </a:moveTo>
                <a:lnTo>
                  <a:pt x="1920240" y="0"/>
                </a:lnTo>
                <a:lnTo>
                  <a:pt x="1920240" y="1600200"/>
                </a:lnTo>
                <a:lnTo>
                  <a:pt x="1600200" y="1920240"/>
                </a:lnTo>
                <a:lnTo>
                  <a:pt x="0" y="1920240"/>
                </a:lnTo>
                <a:lnTo>
                  <a:pt x="0" y="320040"/>
                </a:lnTo>
                <a:close/>
              </a:path>
            </a:pathLst>
          </a:custGeom>
          <a:solidFill>
            <a:srgbClr val="3CC48E"/>
          </a:solidFill>
          <a:ln/>
        </p:spPr>
      </p:sp>
      <p:sp>
        <p:nvSpPr>
          <p:cNvPr id="70" name="Text 68"/>
          <p:cNvSpPr/>
          <p:nvPr/>
        </p:nvSpPr>
        <p:spPr>
          <a:xfrm>
            <a:off x="2971800" y="1737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1428"/>
                </a:solidFill>
                <a:latin typeface="Noto Sans CJK JP"/>
                <a:ea typeface="Noto Sans CJK JP"/>
                <a:cs typeface="Noto Sans CJK JP"/>
              </a:rPr>
              <a:t>ENFP</a:t>
            </a:r>
            <a:endParaRPr lang="en-US" sz="26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297180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1428"/>
                </a:solidFill>
                <a:latin typeface="Noto Sans CJK JP"/>
                <a:ea typeface="Noto Sans CJK JP"/>
                <a:cs typeface="Noto Sans CJK JP"/>
              </a:rPr>
              <a:t>外交官</a:t>
            </a:r>
            <a:endParaRPr lang="en-US" sz="16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822960" y="3383280"/>
            <a:ext cx="1920240" cy="1920240"/>
          </a:xfrm>
          <a:custGeom>
            <a:avLst/>
            <a:gdLst/>
            <a:ahLst/>
            <a:cxnLst/>
            <a:rect l="l" t="t" r="r" b="b"/>
            <a:pathLst>
              <a:path w="1920240" h="1920240">
                <a:moveTo>
                  <a:pt x="320040" y="0"/>
                </a:moveTo>
                <a:lnTo>
                  <a:pt x="1920240" y="0"/>
                </a:lnTo>
                <a:lnTo>
                  <a:pt x="1920240" y="1600200"/>
                </a:lnTo>
                <a:lnTo>
                  <a:pt x="1600200" y="1920240"/>
                </a:lnTo>
                <a:lnTo>
                  <a:pt x="0" y="1920240"/>
                </a:lnTo>
                <a:lnTo>
                  <a:pt x="0" y="320040"/>
                </a:lnTo>
                <a:close/>
              </a:path>
            </a:pathLst>
          </a:custGeom>
          <a:solidFill>
            <a:srgbClr val="4A9BF5"/>
          </a:solidFill>
          <a:ln/>
        </p:spPr>
      </p:sp>
      <p:sp>
        <p:nvSpPr>
          <p:cNvPr id="73" name="Text 71"/>
          <p:cNvSpPr/>
          <p:nvPr/>
        </p:nvSpPr>
        <p:spPr>
          <a:xfrm>
            <a:off x="822960" y="3886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1428"/>
                </a:solidFill>
                <a:latin typeface="Noto Sans CJK JP"/>
                <a:ea typeface="Noto Sans CJK JP"/>
                <a:cs typeface="Noto Sans CJK JP"/>
              </a:rPr>
              <a:t>ISTJ</a:t>
            </a:r>
            <a:endParaRPr lang="en-US" sz="26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822960" y="4434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1428"/>
                </a:solidFill>
                <a:latin typeface="Noto Sans CJK JP"/>
                <a:ea typeface="Noto Sans CJK JP"/>
                <a:cs typeface="Noto Sans CJK JP"/>
              </a:rPr>
              <a:t>番人</a:t>
            </a:r>
            <a:endParaRPr lang="en-US" sz="16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2971800" y="3383280"/>
            <a:ext cx="1920240" cy="1920240"/>
          </a:xfrm>
          <a:custGeom>
            <a:avLst/>
            <a:gdLst/>
            <a:ahLst/>
            <a:cxnLst/>
            <a:rect l="l" t="t" r="r" b="b"/>
            <a:pathLst>
              <a:path w="1920240" h="1920240">
                <a:moveTo>
                  <a:pt x="320040" y="0"/>
                </a:moveTo>
                <a:lnTo>
                  <a:pt x="1920240" y="0"/>
                </a:lnTo>
                <a:lnTo>
                  <a:pt x="1920240" y="1600200"/>
                </a:lnTo>
                <a:lnTo>
                  <a:pt x="1600200" y="1920240"/>
                </a:lnTo>
                <a:lnTo>
                  <a:pt x="0" y="1920240"/>
                </a:lnTo>
                <a:lnTo>
                  <a:pt x="0" y="320040"/>
                </a:lnTo>
                <a:close/>
              </a:path>
            </a:pathLst>
          </a:custGeom>
          <a:solidFill>
            <a:srgbClr val="F5C542"/>
          </a:solidFill>
          <a:ln/>
        </p:spPr>
      </p:sp>
      <p:sp>
        <p:nvSpPr>
          <p:cNvPr id="76" name="Text 74"/>
          <p:cNvSpPr/>
          <p:nvPr/>
        </p:nvSpPr>
        <p:spPr>
          <a:xfrm>
            <a:off x="2971800" y="3886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1428"/>
                </a:solidFill>
                <a:latin typeface="Noto Sans CJK JP"/>
                <a:ea typeface="Noto Sans CJK JP"/>
                <a:cs typeface="Noto Sans CJK JP"/>
              </a:rPr>
              <a:t>ESTP</a:t>
            </a:r>
            <a:endParaRPr lang="en-US" sz="26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2971800" y="4434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1428"/>
                </a:solidFill>
                <a:latin typeface="Noto Sans CJK JP"/>
                <a:ea typeface="Noto Sans CJK JP"/>
                <a:cs typeface="Noto Sans CJK JP"/>
              </a:rPr>
              <a:t>探検家</a:t>
            </a:r>
            <a:endParaRPr lang="en-US" sz="16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5760720" y="17373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MBTI Bot Hub</a:t>
            </a:r>
            <a:endParaRPr lang="en-US" sz="60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5760720" y="29260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A9BFEA"/>
                </a:solidFill>
                <a:latin typeface="Noto Sans CJK JP"/>
                <a:ea typeface="Noto Sans CJK JP"/>
                <a:cs typeface="Noto Sans CJK JP"/>
              </a:rPr>
              <a:t>あなたの分身が、</a:t>
            </a:r>
            <a:endParaRPr lang="en-US" sz="2400" dirty="0">
              <a:latin typeface="Noto Sans CJK JP"/>
              <a:ea typeface="Noto Sans CJK JP"/>
              <a:cs typeface="Noto Sans CJK JP"/>
            </a:endParaRPr>
          </a:p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A9BFEA"/>
                </a:solidFill>
                <a:latin typeface="Noto Sans CJK JP"/>
                <a:ea typeface="Noto Sans CJK JP"/>
                <a:cs typeface="Noto Sans CJK JP"/>
              </a:rPr>
              <a:t>あなたに足りない4人を連れてくる。</a:t>
            </a:r>
            <a:endParaRPr lang="en-US" sz="24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5760720" y="4800600"/>
            <a:ext cx="4937760" cy="731520"/>
          </a:xfrm>
          <a:custGeom>
            <a:avLst/>
            <a:gdLst/>
            <a:ahLst/>
            <a:cxnLst/>
            <a:rect l="l" t="t" r="r" b="b"/>
            <a:pathLst>
              <a:path w="4937760" h="731520">
                <a:moveTo>
                  <a:pt x="182880" y="0"/>
                </a:moveTo>
                <a:lnTo>
                  <a:pt x="4773168" y="0"/>
                </a:lnTo>
                <a:lnTo>
                  <a:pt x="4937760" y="164592"/>
                </a:lnTo>
                <a:lnTo>
                  <a:pt x="4937760" y="566928"/>
                </a:lnTo>
                <a:lnTo>
                  <a:pt x="4773168" y="731520"/>
                </a:lnTo>
                <a:lnTo>
                  <a:pt x="182880" y="731520"/>
                </a:lnTo>
                <a:lnTo>
                  <a:pt x="0" y="548640"/>
                </a:lnTo>
                <a:lnTo>
                  <a:pt x="0" y="182880"/>
                </a:lnTo>
                <a:close/>
              </a:path>
            </a:pathLst>
          </a:custGeom>
          <a:solidFill>
            <a:srgbClr val="1A2F5E"/>
          </a:solidFill>
          <a:ln w="12700">
            <a:solidFill>
              <a:srgbClr val="4C7D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760720" y="48006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10/11 Grok Bot Tokyo Hackathon</a:t>
            </a:r>
            <a:endParaRPr lang="en-US" sz="1600" dirty="0">
              <a:latin typeface="Noto Sans CJK JP"/>
              <a:ea typeface="Noto Sans CJK JP"/>
              <a:cs typeface="Noto Sans CJK JP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246888"/>
          </a:xfrm>
          <a:prstGeom prst="rect">
            <a:avLst/>
          </a:prstGeom>
          <a:solidFill>
            <a:srgbClr val="1A2F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"/>
            <a:ext cx="12191970" cy="246888"/>
          </a:xfrm>
          <a:prstGeom prst="rect">
            <a:avLst/>
          </a:prstGeom>
          <a:solidFill>
            <a:srgbClr val="1A2F5E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0"/>
            <a:ext cx="12191970" cy="246888"/>
          </a:xfrm>
          <a:prstGeom prst="rect">
            <a:avLst/>
          </a:prstGeom>
          <a:solidFill>
            <a:srgbClr val="1A2F5E">
              <a:alpha val="9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5800"/>
            <a:ext cx="12191970" cy="246888"/>
          </a:xfrm>
          <a:prstGeom prst="rect">
            <a:avLst/>
          </a:prstGeom>
          <a:solidFill>
            <a:srgbClr val="1A2F5E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14400"/>
            <a:ext cx="12191970" cy="246888"/>
          </a:xfrm>
          <a:prstGeom prst="rect">
            <a:avLst/>
          </a:prstGeom>
          <a:solidFill>
            <a:srgbClr val="1A2F5E">
              <a:alpha val="8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143000"/>
            <a:ext cx="12191970" cy="246888"/>
          </a:xfrm>
          <a:prstGeom prst="rect">
            <a:avLst/>
          </a:prstGeom>
          <a:solidFill>
            <a:srgbClr val="1A2F5E">
              <a:alpha val="8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71600"/>
            <a:ext cx="12191970" cy="246888"/>
          </a:xfrm>
          <a:prstGeom prst="rect">
            <a:avLst/>
          </a:prstGeom>
          <a:solidFill>
            <a:srgbClr val="1A2F5E">
              <a:alpha val="7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600200"/>
            <a:ext cx="12191970" cy="246888"/>
          </a:xfrm>
          <a:prstGeom prst="rect">
            <a:avLst/>
          </a:prstGeom>
          <a:solidFill>
            <a:srgbClr val="1A2F5E">
              <a:alpha val="7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8800"/>
            <a:ext cx="12191970" cy="246888"/>
          </a:xfrm>
          <a:prstGeom prst="rect">
            <a:avLst/>
          </a:prstGeom>
          <a:solidFill>
            <a:srgbClr val="1A2F5E">
              <a:alpha val="7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57400"/>
            <a:ext cx="12191970" cy="246888"/>
          </a:xfrm>
          <a:prstGeom prst="rect">
            <a:avLst/>
          </a:prstGeom>
          <a:solidFill>
            <a:srgbClr val="1A2F5E">
              <a:alpha val="6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286000"/>
            <a:ext cx="12191970" cy="246888"/>
          </a:xfrm>
          <a:prstGeom prst="rect">
            <a:avLst/>
          </a:prstGeom>
          <a:solidFill>
            <a:srgbClr val="1A2F5E">
              <a:alpha val="6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14600"/>
            <a:ext cx="12191970" cy="246888"/>
          </a:xfrm>
          <a:prstGeom prst="rect">
            <a:avLst/>
          </a:prstGeom>
          <a:solidFill>
            <a:srgbClr val="1A2F5E">
              <a:alpha val="6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743200"/>
            <a:ext cx="12191970" cy="246888"/>
          </a:xfrm>
          <a:prstGeom prst="rect">
            <a:avLst/>
          </a:prstGeom>
          <a:solidFill>
            <a:srgbClr val="1A2F5E">
              <a:alpha val="59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971800"/>
            <a:ext cx="12191970" cy="246888"/>
          </a:xfrm>
          <a:prstGeom prst="rect">
            <a:avLst/>
          </a:prstGeom>
          <a:solidFill>
            <a:srgbClr val="1A2F5E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3200400"/>
            <a:ext cx="12191970" cy="246888"/>
          </a:xfrm>
          <a:prstGeom prst="rect">
            <a:avLst/>
          </a:prstGeom>
          <a:solidFill>
            <a:srgbClr val="1A2F5E">
              <a:alpha val="5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3429000"/>
            <a:ext cx="12191970" cy="246888"/>
          </a:xfrm>
          <a:prstGeom prst="rect">
            <a:avLst/>
          </a:prstGeom>
          <a:solidFill>
            <a:srgbClr val="1A2F5E">
              <a:alpha val="4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3657600"/>
            <a:ext cx="12191970" cy="246888"/>
          </a:xfrm>
          <a:prstGeom prst="rect">
            <a:avLst/>
          </a:prstGeom>
          <a:solidFill>
            <a:srgbClr val="1A2F5E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3886200"/>
            <a:ext cx="12191970" cy="246888"/>
          </a:xfrm>
          <a:prstGeom prst="rect">
            <a:avLst/>
          </a:prstGeom>
          <a:solidFill>
            <a:srgbClr val="1A2F5E">
              <a:alpha val="41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4114800"/>
            <a:ext cx="12191970" cy="246888"/>
          </a:xfrm>
          <a:prstGeom prst="rect">
            <a:avLst/>
          </a:prstGeom>
          <a:solidFill>
            <a:srgbClr val="1A2F5E">
              <a:alpha val="3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4343400"/>
            <a:ext cx="12191970" cy="246888"/>
          </a:xfrm>
          <a:prstGeom prst="rect">
            <a:avLst/>
          </a:prstGeom>
          <a:solidFill>
            <a:srgbClr val="1A2F5E">
              <a:alpha val="3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572000"/>
            <a:ext cx="12191970" cy="246888"/>
          </a:xfrm>
          <a:prstGeom prst="rect">
            <a:avLst/>
          </a:prstGeom>
          <a:solidFill>
            <a:srgbClr val="1A2F5E">
              <a:alpha val="31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4800600"/>
            <a:ext cx="12191970" cy="246888"/>
          </a:xfrm>
          <a:prstGeom prst="rect">
            <a:avLst/>
          </a:prstGeom>
          <a:solidFill>
            <a:srgbClr val="1A2F5E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5029200"/>
            <a:ext cx="12191970" cy="246888"/>
          </a:xfrm>
          <a:prstGeom prst="rect">
            <a:avLst/>
          </a:prstGeom>
          <a:solidFill>
            <a:srgbClr val="1A2F5E">
              <a:alpha val="2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257800"/>
            <a:ext cx="12191970" cy="246888"/>
          </a:xfrm>
          <a:prstGeom prst="rect">
            <a:avLst/>
          </a:prstGeom>
          <a:solidFill>
            <a:srgbClr val="1A2F5E">
              <a:alpha val="21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5486400"/>
            <a:ext cx="12191970" cy="246888"/>
          </a:xfrm>
          <a:prstGeom prst="rect">
            <a:avLst/>
          </a:prstGeom>
          <a:solidFill>
            <a:srgbClr val="1A2F5E">
              <a:alpha val="17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5715000"/>
            <a:ext cx="12191970" cy="246888"/>
          </a:xfrm>
          <a:prstGeom prst="rect">
            <a:avLst/>
          </a:prstGeom>
          <a:solidFill>
            <a:srgbClr val="1A2F5E">
              <a:alpha val="1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5943600"/>
            <a:ext cx="12191970" cy="246888"/>
          </a:xfrm>
          <a:prstGeom prst="rect">
            <a:avLst/>
          </a:prstGeom>
          <a:solidFill>
            <a:srgbClr val="1A2F5E">
              <a:alpha val="1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6172200"/>
            <a:ext cx="12191970" cy="246888"/>
          </a:xfrm>
          <a:prstGeom prst="rect">
            <a:avLst/>
          </a:prstGeom>
          <a:solidFill>
            <a:srgbClr val="1A2F5E">
              <a:alpha val="7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400800"/>
            <a:ext cx="12191970" cy="246888"/>
          </a:xfrm>
          <a:prstGeom prst="rect">
            <a:avLst/>
          </a:prstGeom>
          <a:solidFill>
            <a:srgbClr val="1A2F5E">
              <a:alpha val="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6629400"/>
            <a:ext cx="12191970" cy="246888"/>
          </a:xfrm>
          <a:prstGeom prst="rect">
            <a:avLst/>
          </a:prstGeom>
          <a:solidFill>
            <a:srgbClr val="1A2F5E">
              <a:alpha val="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73582" y="410566"/>
            <a:ext cx="360365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MBTI BOT HUB</a:t>
            </a:r>
            <a:endParaRPr lang="en-US" sz="11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0" y="868680"/>
            <a:ext cx="229022" cy="1097280"/>
          </a:xfrm>
          <a:prstGeom prst="rect">
            <a:avLst/>
          </a:prstGeom>
          <a:solidFill>
            <a:srgbClr val="4C7DF0">
              <a:alpha val="49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8049" y="868680"/>
            <a:ext cx="229022" cy="1097280"/>
          </a:xfrm>
          <a:prstGeom prst="rect">
            <a:avLst/>
          </a:prstGeom>
          <a:solidFill>
            <a:srgbClr val="4C7DF0">
              <a:alpha val="47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6098" y="868680"/>
            <a:ext cx="229022" cy="1097280"/>
          </a:xfrm>
          <a:prstGeom prst="rect">
            <a:avLst/>
          </a:prstGeom>
          <a:solidFill>
            <a:srgbClr val="4C7DF0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54148" y="868680"/>
            <a:ext cx="229022" cy="1097280"/>
          </a:xfrm>
          <a:prstGeom prst="rect">
            <a:avLst/>
          </a:prstGeom>
          <a:solidFill>
            <a:srgbClr val="4C7DF0">
              <a:alpha val="43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2197" y="868680"/>
            <a:ext cx="229022" cy="1097280"/>
          </a:xfrm>
          <a:prstGeom prst="rect">
            <a:avLst/>
          </a:prstGeom>
          <a:solidFill>
            <a:srgbClr val="4C7DF0">
              <a:alpha val="41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90246" y="868680"/>
            <a:ext cx="229022" cy="1097280"/>
          </a:xfrm>
          <a:prstGeom prst="rect">
            <a:avLst/>
          </a:prstGeom>
          <a:solidFill>
            <a:srgbClr val="4C7DF0">
              <a:alpha val="39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308295" y="868680"/>
            <a:ext cx="229022" cy="1097280"/>
          </a:xfrm>
          <a:prstGeom prst="rect">
            <a:avLst/>
          </a:prstGeom>
          <a:solidFill>
            <a:srgbClr val="4C7DF0">
              <a:alpha val="37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526345" y="868680"/>
            <a:ext cx="229022" cy="1097280"/>
          </a:xfrm>
          <a:prstGeom prst="rect">
            <a:avLst/>
          </a:prstGeom>
          <a:solidFill>
            <a:srgbClr val="4C7DF0">
              <a:alpha val="3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744394" y="868680"/>
            <a:ext cx="229022" cy="1097280"/>
          </a:xfrm>
          <a:prstGeom prst="rect">
            <a:avLst/>
          </a:prstGeom>
          <a:solidFill>
            <a:srgbClr val="4C7DF0">
              <a:alpha val="33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962443" y="868680"/>
            <a:ext cx="229022" cy="1097280"/>
          </a:xfrm>
          <a:prstGeom prst="rect">
            <a:avLst/>
          </a:prstGeom>
          <a:solidFill>
            <a:srgbClr val="4C7DF0">
              <a:alpha val="31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2180492" y="868680"/>
            <a:ext cx="229022" cy="1097280"/>
          </a:xfrm>
          <a:prstGeom prst="rect">
            <a:avLst/>
          </a:prstGeom>
          <a:solidFill>
            <a:srgbClr val="4C7DF0">
              <a:alpha val="29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2398542" y="868680"/>
            <a:ext cx="229022" cy="1097280"/>
          </a:xfrm>
          <a:prstGeom prst="rect">
            <a:avLst/>
          </a:prstGeom>
          <a:solidFill>
            <a:srgbClr val="4C7DF0">
              <a:alpha val="27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616591" y="868680"/>
            <a:ext cx="229022" cy="1097280"/>
          </a:xfrm>
          <a:prstGeom prst="rect">
            <a:avLst/>
          </a:prstGeom>
          <a:solidFill>
            <a:srgbClr val="4C7DF0">
              <a:alpha val="2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2834640" y="868680"/>
            <a:ext cx="229022" cy="1097280"/>
          </a:xfrm>
          <a:prstGeom prst="rect">
            <a:avLst/>
          </a:prstGeom>
          <a:solidFill>
            <a:srgbClr val="4C7DF0">
              <a:alpha val="2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052689" y="868680"/>
            <a:ext cx="229022" cy="1097280"/>
          </a:xfrm>
          <a:prstGeom prst="rect">
            <a:avLst/>
          </a:prstGeom>
          <a:solidFill>
            <a:srgbClr val="4C7DF0">
              <a:alpha val="2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270738" y="868680"/>
            <a:ext cx="229022" cy="1097280"/>
          </a:xfrm>
          <a:prstGeom prst="rect">
            <a:avLst/>
          </a:prstGeom>
          <a:solidFill>
            <a:srgbClr val="4C7DF0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3488788" y="868680"/>
            <a:ext cx="229022" cy="1097280"/>
          </a:xfrm>
          <a:prstGeom prst="rect">
            <a:avLst/>
          </a:prstGeom>
          <a:solidFill>
            <a:srgbClr val="4C7DF0">
              <a:alpha val="1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3706837" y="868680"/>
            <a:ext cx="229022" cy="1097280"/>
          </a:xfrm>
          <a:prstGeom prst="rect">
            <a:avLst/>
          </a:prstGeom>
          <a:solidFill>
            <a:srgbClr val="4C7DF0">
              <a:alpha val="16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3924886" y="868680"/>
            <a:ext cx="229022" cy="1097280"/>
          </a:xfrm>
          <a:prstGeom prst="rect">
            <a:avLst/>
          </a:prstGeom>
          <a:solidFill>
            <a:srgbClr val="4C7DF0">
              <a:alpha val="14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142935" y="868680"/>
            <a:ext cx="229022" cy="1097280"/>
          </a:xfrm>
          <a:prstGeom prst="rect">
            <a:avLst/>
          </a:prstGeom>
          <a:solidFill>
            <a:srgbClr val="4C7DF0">
              <a:alpha val="1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4360985" y="868680"/>
            <a:ext cx="229022" cy="1097280"/>
          </a:xfrm>
          <a:prstGeom prst="rect">
            <a:avLst/>
          </a:prstGeom>
          <a:solidFill>
            <a:srgbClr val="4C7DF0">
              <a:alpha val="1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4579034" y="868680"/>
            <a:ext cx="229022" cy="1097280"/>
          </a:xfrm>
          <a:prstGeom prst="rect">
            <a:avLst/>
          </a:prstGeom>
          <a:solidFill>
            <a:srgbClr val="4C7DF0">
              <a:alpha val="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797083" y="868680"/>
            <a:ext cx="229022" cy="1097280"/>
          </a:xfrm>
          <a:prstGeom prst="rect">
            <a:avLst/>
          </a:prstGeom>
          <a:solidFill>
            <a:srgbClr val="4C7DF0">
              <a:alpha val="6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5015132" y="868680"/>
            <a:ext cx="229022" cy="1097280"/>
          </a:xfrm>
          <a:prstGeom prst="rect">
            <a:avLst/>
          </a:prstGeom>
          <a:solidFill>
            <a:srgbClr val="4C7DF0">
              <a:alpha val="4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5233182" y="868680"/>
            <a:ext cx="229022" cy="1097280"/>
          </a:xfrm>
          <a:prstGeom prst="rect">
            <a:avLst/>
          </a:prstGeom>
          <a:solidFill>
            <a:srgbClr val="4C7DF0">
              <a:alpha val="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451231" y="868680"/>
            <a:ext cx="229022" cy="1097280"/>
          </a:xfrm>
          <a:prstGeom prst="rect">
            <a:avLst/>
          </a:prstGeom>
          <a:solidFill>
            <a:srgbClr val="4C7DF0">
              <a:alpha val="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773582" y="10972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AIへの相談は、いつも1つの視点に偏る</a:t>
            </a:r>
            <a:endParaRPr lang="en-US" sz="32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0" name="Shape 58"/>
          <p:cNvSpPr/>
          <p:nvPr/>
        </p:nvSpPr>
        <p:spPr>
          <a:xfrm rot="5400000">
            <a:off x="323972" y="1347615"/>
            <a:ext cx="247647" cy="160441"/>
          </a:xfrm>
          <a:prstGeom prst="triangle">
            <a:avLst/>
          </a:prstGeom>
          <a:solidFill>
            <a:srgbClr val="A9BFEA">
              <a:alpha val="33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5400000">
            <a:off x="222199" y="1319150"/>
            <a:ext cx="339242" cy="219959"/>
          </a:xfrm>
          <a:prstGeom prst="triangle">
            <a:avLst/>
          </a:prstGeom>
          <a:solidFill>
            <a:srgbClr val="4C7DF0"/>
          </a:solidFill>
          <a:ln/>
        </p:spPr>
      </p:sp>
      <p:sp>
        <p:nvSpPr>
          <p:cNvPr id="62" name="Shape 60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1505907" y="462043"/>
                </a:moveTo>
                <a:lnTo>
                  <a:pt x="3031038" y="462043"/>
                </a:lnTo>
                <a:lnTo>
                  <a:pt x="3204058" y="290326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3194445" y="1561386"/>
                </a:moveTo>
                <a:lnTo>
                  <a:pt x="2534410" y="1561386"/>
                </a:lnTo>
                <a:lnTo>
                  <a:pt x="2528001" y="1568467"/>
                </a:lnTo>
                <a:lnTo>
                  <a:pt x="2505573" y="1557845"/>
                </a:lnTo>
                <a:lnTo>
                  <a:pt x="2502369" y="1545453"/>
                </a:lnTo>
                <a:lnTo>
                  <a:pt x="2310126" y="1354263"/>
                </a:lnTo>
                <a:lnTo>
                  <a:pt x="1541152" y="1354263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3200854" y="1051545"/>
                </a:moveTo>
                <a:lnTo>
                  <a:pt x="3063079" y="1187857"/>
                </a:lnTo>
                <a:lnTo>
                  <a:pt x="2300513" y="1187857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3194445" y="7081"/>
                </a:moveTo>
                <a:lnTo>
                  <a:pt x="2592083" y="7081"/>
                </a:lnTo>
                <a:lnTo>
                  <a:pt x="2262065" y="336353"/>
                </a:lnTo>
                <a:lnTo>
                  <a:pt x="839463" y="336353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3184833" y="616057"/>
                </a:moveTo>
                <a:lnTo>
                  <a:pt x="3184833" y="631989"/>
                </a:lnTo>
                <a:lnTo>
                  <a:pt x="2797142" y="1019680"/>
                </a:lnTo>
                <a:lnTo>
                  <a:pt x="2640143" y="1019680"/>
                </a:lnTo>
                <a:lnTo>
                  <a:pt x="2431880" y="812558"/>
                </a:lnTo>
                <a:lnTo>
                  <a:pt x="1887190" y="812558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3184833" y="616057"/>
                </a:moveTo>
                <a:lnTo>
                  <a:pt x="935585" y="616057"/>
                </a:lnTo>
                <a:lnTo>
                  <a:pt x="509445" y="1044464"/>
                </a:lnTo>
                <a:lnTo>
                  <a:pt x="140979" y="1044464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448568" y="1561386"/>
                </a:moveTo>
                <a:lnTo>
                  <a:pt x="977238" y="1561386"/>
                </a:lnTo>
                <a:lnTo>
                  <a:pt x="1352112" y="1187857"/>
                </a:lnTo>
                <a:lnTo>
                  <a:pt x="2053801" y="1187857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2156331" y="1561386"/>
                </a:moveTo>
                <a:lnTo>
                  <a:pt x="2505573" y="1561386"/>
                </a:lnTo>
                <a:lnTo>
                  <a:pt x="2528001" y="1568467"/>
                </a:lnTo>
                <a:lnTo>
                  <a:pt x="2720245" y="1766738"/>
                </a:lnTo>
                <a:lnTo>
                  <a:pt x="3191241" y="1766738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3204" y="1295844"/>
                </a:moveTo>
                <a:lnTo>
                  <a:pt x="608771" y="1295844"/>
                </a:lnTo>
                <a:lnTo>
                  <a:pt x="1095788" y="809017"/>
                </a:lnTo>
                <a:lnTo>
                  <a:pt x="1589213" y="809017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2809959" y="1186087"/>
                </a:moveTo>
                <a:lnTo>
                  <a:pt x="2646552" y="1023221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2819571" y="1189627"/>
                </a:moveTo>
                <a:lnTo>
                  <a:pt x="3011814" y="1389669"/>
                </a:lnTo>
                <a:lnTo>
                  <a:pt x="3194445" y="1389669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2640143" y="1016140"/>
                </a:moveTo>
                <a:lnTo>
                  <a:pt x="1204726" y="1016140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484325" y="692581"/>
            <a:ext cx="108938" cy="108938"/>
          </a:xfrm>
          <a:prstGeom prst="ellipse">
            <a:avLst/>
          </a:prstGeom>
          <a:solidFill>
            <a:srgbClr val="4C7DF0"/>
          </a:solidFill>
          <a:ln/>
        </p:spPr>
      </p:sp>
      <p:sp>
        <p:nvSpPr>
          <p:cNvPr id="75" name="Shape 73"/>
          <p:cNvSpPr/>
          <p:nvPr/>
        </p:nvSpPr>
        <p:spPr>
          <a:xfrm>
            <a:off x="9484325" y="711293"/>
            <a:ext cx="128162" cy="128162"/>
          </a:xfrm>
          <a:prstGeom prst="ellipse">
            <a:avLst/>
          </a:prstGeom>
          <a:solidFill>
            <a:srgbClr val="4C7DF0"/>
          </a:solidFill>
          <a:ln/>
        </p:spPr>
      </p:sp>
      <p:sp>
        <p:nvSpPr>
          <p:cNvPr id="76" name="Shape 74"/>
          <p:cNvSpPr/>
          <p:nvPr/>
        </p:nvSpPr>
        <p:spPr>
          <a:xfrm>
            <a:off x="9711813" y="-256712"/>
            <a:ext cx="134570" cy="134570"/>
          </a:xfrm>
          <a:prstGeom prst="ellipse">
            <a:avLst/>
          </a:prstGeom>
          <a:ln w="11430">
            <a:solidFill>
              <a:srgbClr val="4C7D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381461" y="-132793"/>
            <a:ext cx="134570" cy="134570"/>
          </a:xfrm>
          <a:prstGeom prst="ellipse">
            <a:avLst/>
          </a:prstGeom>
          <a:ln w="11430">
            <a:solidFill>
              <a:srgbClr val="4C7D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413502" y="759427"/>
            <a:ext cx="134570" cy="134570"/>
          </a:xfrm>
          <a:prstGeom prst="ellipse">
            <a:avLst/>
          </a:prstGeom>
          <a:ln w="11430">
            <a:solidFill>
              <a:srgbClr val="4C7D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102374" y="585179"/>
            <a:ext cx="153795" cy="153795"/>
          </a:xfrm>
          <a:prstGeom prst="ellipse">
            <a:avLst/>
          </a:prstGeom>
          <a:solidFill>
            <a:srgbClr val="4C7DF0"/>
          </a:solidFill>
          <a:ln/>
        </p:spPr>
      </p:sp>
      <p:sp>
        <p:nvSpPr>
          <p:cNvPr id="80" name="Shape 78"/>
          <p:cNvSpPr/>
          <p:nvPr/>
        </p:nvSpPr>
        <p:spPr>
          <a:xfrm>
            <a:off x="777240" y="2468880"/>
            <a:ext cx="5120640" cy="3291840"/>
          </a:xfrm>
          <a:custGeom>
            <a:avLst/>
            <a:gdLst/>
            <a:ahLst/>
            <a:cxnLst/>
            <a:rect l="l" t="t" r="r" b="b"/>
            <a:pathLst>
              <a:path w="5120640" h="3291840">
                <a:moveTo>
                  <a:pt x="201168" y="0"/>
                </a:moveTo>
                <a:lnTo>
                  <a:pt x="5120640" y="0"/>
                </a:lnTo>
                <a:lnTo>
                  <a:pt x="5120640" y="3090672"/>
                </a:lnTo>
                <a:lnTo>
                  <a:pt x="4919472" y="3291840"/>
                </a:lnTo>
                <a:lnTo>
                  <a:pt x="0" y="3291840"/>
                </a:lnTo>
                <a:lnTo>
                  <a:pt x="0" y="201168"/>
                </a:lnTo>
                <a:close/>
              </a:path>
            </a:pathLst>
          </a:custGeom>
          <a:solidFill>
            <a:srgbClr val="1A2F5E"/>
          </a:solidFill>
          <a:ln w="19050">
            <a:solidFill>
              <a:srgbClr val="4C7D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188720" y="2743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7DF0"/>
                </a:solidFill>
                <a:latin typeface="Noto Sans CJK JP"/>
                <a:ea typeface="Noto Sans CJK JP"/>
                <a:cs typeface="Noto Sans CJK JP"/>
              </a:rPr>
              <a:t>課題 1</a:t>
            </a:r>
            <a:endParaRPr lang="en-US" sz="16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1188720" y="31546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答えが同じ視点に偏る</a:t>
            </a:r>
            <a:endParaRPr lang="en-US" sz="26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1188720" y="41148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D6DEEE"/>
                </a:solidFill>
                <a:latin typeface="Noto Sans CJK JP"/>
                <a:ea typeface="Noto Sans CJK JP"/>
                <a:cs typeface="Noto Sans CJK JP"/>
              </a:rPr>
              <a:t>AIに相談すると、答えはいつも同じ視点に偏りがち。1体に「多角的に」と頼んでも、自分の案を甘く採点しがち。</a:t>
            </a:r>
            <a:endParaRPr lang="en-US" sz="17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6309360" y="2468880"/>
            <a:ext cx="5120640" cy="3291840"/>
          </a:xfrm>
          <a:custGeom>
            <a:avLst/>
            <a:gdLst/>
            <a:ahLst/>
            <a:cxnLst/>
            <a:rect l="l" t="t" r="r" b="b"/>
            <a:pathLst>
              <a:path w="5120640" h="3291840">
                <a:moveTo>
                  <a:pt x="201168" y="0"/>
                </a:moveTo>
                <a:lnTo>
                  <a:pt x="5120640" y="0"/>
                </a:lnTo>
                <a:lnTo>
                  <a:pt x="5120640" y="3090672"/>
                </a:lnTo>
                <a:lnTo>
                  <a:pt x="4919472" y="3291840"/>
                </a:lnTo>
                <a:lnTo>
                  <a:pt x="0" y="3291840"/>
                </a:lnTo>
                <a:lnTo>
                  <a:pt x="0" y="201168"/>
                </a:lnTo>
                <a:close/>
              </a:path>
            </a:pathLst>
          </a:custGeom>
          <a:solidFill>
            <a:srgbClr val="1A2F5E"/>
          </a:solidFill>
          <a:ln w="19050">
            <a:solidFill>
              <a:srgbClr val="4C7D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720840" y="2743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7DF0"/>
                </a:solidFill>
                <a:latin typeface="Noto Sans CJK JP"/>
                <a:ea typeface="Noto Sans CJK JP"/>
                <a:cs typeface="Noto Sans CJK JP"/>
              </a:rPr>
              <a:t>課題 2</a:t>
            </a:r>
            <a:endParaRPr lang="en-US" sz="16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6720840" y="31546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チームを自分で作るのは手間</a:t>
            </a:r>
            <a:endParaRPr lang="en-US" sz="26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6720840" y="41148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D6DEEE"/>
                </a:solidFill>
                <a:latin typeface="Noto Sans CJK JP"/>
                <a:ea typeface="Noto Sans CJK JP"/>
                <a:cs typeface="Noto Sans CJK JP"/>
              </a:rPr>
              <a:t>複数のボットを自分で作り、役割を決め、質問を配って、回答をまとめる。この手間がかかる。</a:t>
            </a:r>
            <a:endParaRPr lang="en-US" sz="17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BFEA"/>
                </a:solidFill>
                <a:latin typeface="Noto Sans CJK JP"/>
                <a:ea typeface="Noto Sans CJK JP"/>
                <a:cs typeface="Noto Sans CJK JP"/>
              </a:rPr>
              <a:t>→ 課題を1つ投げるだけで、足りない視点がそろう仕組みを作った</a:t>
            </a:r>
            <a:endParaRPr lang="en-US" sz="1800" dirty="0">
              <a:latin typeface="Noto Sans CJK JP"/>
              <a:ea typeface="Noto Sans CJK JP"/>
              <a:cs typeface="Noto Sans CJK JP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246888"/>
          </a:xfrm>
          <a:prstGeom prst="rect">
            <a:avLst/>
          </a:prstGeom>
          <a:solidFill>
            <a:srgbClr val="1A2F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"/>
            <a:ext cx="12191970" cy="246888"/>
          </a:xfrm>
          <a:prstGeom prst="rect">
            <a:avLst/>
          </a:prstGeom>
          <a:solidFill>
            <a:srgbClr val="1A2F5E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0"/>
            <a:ext cx="12191970" cy="246888"/>
          </a:xfrm>
          <a:prstGeom prst="rect">
            <a:avLst/>
          </a:prstGeom>
          <a:solidFill>
            <a:srgbClr val="1A2F5E">
              <a:alpha val="9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5800"/>
            <a:ext cx="12191970" cy="246888"/>
          </a:xfrm>
          <a:prstGeom prst="rect">
            <a:avLst/>
          </a:prstGeom>
          <a:solidFill>
            <a:srgbClr val="1A2F5E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14400"/>
            <a:ext cx="12191970" cy="246888"/>
          </a:xfrm>
          <a:prstGeom prst="rect">
            <a:avLst/>
          </a:prstGeom>
          <a:solidFill>
            <a:srgbClr val="1A2F5E">
              <a:alpha val="8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143000"/>
            <a:ext cx="12191970" cy="246888"/>
          </a:xfrm>
          <a:prstGeom prst="rect">
            <a:avLst/>
          </a:prstGeom>
          <a:solidFill>
            <a:srgbClr val="1A2F5E">
              <a:alpha val="8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71600"/>
            <a:ext cx="12191970" cy="246888"/>
          </a:xfrm>
          <a:prstGeom prst="rect">
            <a:avLst/>
          </a:prstGeom>
          <a:solidFill>
            <a:srgbClr val="1A2F5E">
              <a:alpha val="7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600200"/>
            <a:ext cx="12191970" cy="246888"/>
          </a:xfrm>
          <a:prstGeom prst="rect">
            <a:avLst/>
          </a:prstGeom>
          <a:solidFill>
            <a:srgbClr val="1A2F5E">
              <a:alpha val="7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8800"/>
            <a:ext cx="12191970" cy="246888"/>
          </a:xfrm>
          <a:prstGeom prst="rect">
            <a:avLst/>
          </a:prstGeom>
          <a:solidFill>
            <a:srgbClr val="1A2F5E">
              <a:alpha val="7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57400"/>
            <a:ext cx="12191970" cy="246888"/>
          </a:xfrm>
          <a:prstGeom prst="rect">
            <a:avLst/>
          </a:prstGeom>
          <a:solidFill>
            <a:srgbClr val="1A2F5E">
              <a:alpha val="6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286000"/>
            <a:ext cx="12191970" cy="246888"/>
          </a:xfrm>
          <a:prstGeom prst="rect">
            <a:avLst/>
          </a:prstGeom>
          <a:solidFill>
            <a:srgbClr val="1A2F5E">
              <a:alpha val="6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14600"/>
            <a:ext cx="12191970" cy="246888"/>
          </a:xfrm>
          <a:prstGeom prst="rect">
            <a:avLst/>
          </a:prstGeom>
          <a:solidFill>
            <a:srgbClr val="1A2F5E">
              <a:alpha val="6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743200"/>
            <a:ext cx="12191970" cy="246888"/>
          </a:xfrm>
          <a:prstGeom prst="rect">
            <a:avLst/>
          </a:prstGeom>
          <a:solidFill>
            <a:srgbClr val="1A2F5E">
              <a:alpha val="59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971800"/>
            <a:ext cx="12191970" cy="246888"/>
          </a:xfrm>
          <a:prstGeom prst="rect">
            <a:avLst/>
          </a:prstGeom>
          <a:solidFill>
            <a:srgbClr val="1A2F5E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3200400"/>
            <a:ext cx="12191970" cy="246888"/>
          </a:xfrm>
          <a:prstGeom prst="rect">
            <a:avLst/>
          </a:prstGeom>
          <a:solidFill>
            <a:srgbClr val="1A2F5E">
              <a:alpha val="5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3429000"/>
            <a:ext cx="12191970" cy="246888"/>
          </a:xfrm>
          <a:prstGeom prst="rect">
            <a:avLst/>
          </a:prstGeom>
          <a:solidFill>
            <a:srgbClr val="1A2F5E">
              <a:alpha val="4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3657600"/>
            <a:ext cx="12191970" cy="246888"/>
          </a:xfrm>
          <a:prstGeom prst="rect">
            <a:avLst/>
          </a:prstGeom>
          <a:solidFill>
            <a:srgbClr val="1A2F5E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3886200"/>
            <a:ext cx="12191970" cy="246888"/>
          </a:xfrm>
          <a:prstGeom prst="rect">
            <a:avLst/>
          </a:prstGeom>
          <a:solidFill>
            <a:srgbClr val="1A2F5E">
              <a:alpha val="41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4114800"/>
            <a:ext cx="12191970" cy="246888"/>
          </a:xfrm>
          <a:prstGeom prst="rect">
            <a:avLst/>
          </a:prstGeom>
          <a:solidFill>
            <a:srgbClr val="1A2F5E">
              <a:alpha val="3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4343400"/>
            <a:ext cx="12191970" cy="246888"/>
          </a:xfrm>
          <a:prstGeom prst="rect">
            <a:avLst/>
          </a:prstGeom>
          <a:solidFill>
            <a:srgbClr val="1A2F5E">
              <a:alpha val="3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572000"/>
            <a:ext cx="12191970" cy="246888"/>
          </a:xfrm>
          <a:prstGeom prst="rect">
            <a:avLst/>
          </a:prstGeom>
          <a:solidFill>
            <a:srgbClr val="1A2F5E">
              <a:alpha val="31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4800600"/>
            <a:ext cx="12191970" cy="246888"/>
          </a:xfrm>
          <a:prstGeom prst="rect">
            <a:avLst/>
          </a:prstGeom>
          <a:solidFill>
            <a:srgbClr val="1A2F5E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5029200"/>
            <a:ext cx="12191970" cy="246888"/>
          </a:xfrm>
          <a:prstGeom prst="rect">
            <a:avLst/>
          </a:prstGeom>
          <a:solidFill>
            <a:srgbClr val="1A2F5E">
              <a:alpha val="2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257800"/>
            <a:ext cx="12191970" cy="246888"/>
          </a:xfrm>
          <a:prstGeom prst="rect">
            <a:avLst/>
          </a:prstGeom>
          <a:solidFill>
            <a:srgbClr val="1A2F5E">
              <a:alpha val="21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5486400"/>
            <a:ext cx="12191970" cy="246888"/>
          </a:xfrm>
          <a:prstGeom prst="rect">
            <a:avLst/>
          </a:prstGeom>
          <a:solidFill>
            <a:srgbClr val="1A2F5E">
              <a:alpha val="17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5715000"/>
            <a:ext cx="12191970" cy="246888"/>
          </a:xfrm>
          <a:prstGeom prst="rect">
            <a:avLst/>
          </a:prstGeom>
          <a:solidFill>
            <a:srgbClr val="1A2F5E">
              <a:alpha val="1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5943600"/>
            <a:ext cx="12191970" cy="246888"/>
          </a:xfrm>
          <a:prstGeom prst="rect">
            <a:avLst/>
          </a:prstGeom>
          <a:solidFill>
            <a:srgbClr val="1A2F5E">
              <a:alpha val="1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6172200"/>
            <a:ext cx="12191970" cy="246888"/>
          </a:xfrm>
          <a:prstGeom prst="rect">
            <a:avLst/>
          </a:prstGeom>
          <a:solidFill>
            <a:srgbClr val="1A2F5E">
              <a:alpha val="7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400800"/>
            <a:ext cx="12191970" cy="246888"/>
          </a:xfrm>
          <a:prstGeom prst="rect">
            <a:avLst/>
          </a:prstGeom>
          <a:solidFill>
            <a:srgbClr val="1A2F5E">
              <a:alpha val="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6629400"/>
            <a:ext cx="12191970" cy="246888"/>
          </a:xfrm>
          <a:prstGeom prst="rect">
            <a:avLst/>
          </a:prstGeom>
          <a:solidFill>
            <a:srgbClr val="1A2F5E">
              <a:alpha val="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73582" y="410566"/>
            <a:ext cx="360365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MBTI BOT HUB</a:t>
            </a:r>
            <a:endParaRPr lang="en-US" sz="11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0" y="868680"/>
            <a:ext cx="229022" cy="1097280"/>
          </a:xfrm>
          <a:prstGeom prst="rect">
            <a:avLst/>
          </a:prstGeom>
          <a:solidFill>
            <a:srgbClr val="4C7DF0">
              <a:alpha val="49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8049" y="868680"/>
            <a:ext cx="229022" cy="1097280"/>
          </a:xfrm>
          <a:prstGeom prst="rect">
            <a:avLst/>
          </a:prstGeom>
          <a:solidFill>
            <a:srgbClr val="4C7DF0">
              <a:alpha val="47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6098" y="868680"/>
            <a:ext cx="229022" cy="1097280"/>
          </a:xfrm>
          <a:prstGeom prst="rect">
            <a:avLst/>
          </a:prstGeom>
          <a:solidFill>
            <a:srgbClr val="4C7DF0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54148" y="868680"/>
            <a:ext cx="229022" cy="1097280"/>
          </a:xfrm>
          <a:prstGeom prst="rect">
            <a:avLst/>
          </a:prstGeom>
          <a:solidFill>
            <a:srgbClr val="4C7DF0">
              <a:alpha val="43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2197" y="868680"/>
            <a:ext cx="229022" cy="1097280"/>
          </a:xfrm>
          <a:prstGeom prst="rect">
            <a:avLst/>
          </a:prstGeom>
          <a:solidFill>
            <a:srgbClr val="4C7DF0">
              <a:alpha val="41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90246" y="868680"/>
            <a:ext cx="229022" cy="1097280"/>
          </a:xfrm>
          <a:prstGeom prst="rect">
            <a:avLst/>
          </a:prstGeom>
          <a:solidFill>
            <a:srgbClr val="4C7DF0">
              <a:alpha val="39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308295" y="868680"/>
            <a:ext cx="229022" cy="1097280"/>
          </a:xfrm>
          <a:prstGeom prst="rect">
            <a:avLst/>
          </a:prstGeom>
          <a:solidFill>
            <a:srgbClr val="4C7DF0">
              <a:alpha val="37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526345" y="868680"/>
            <a:ext cx="229022" cy="1097280"/>
          </a:xfrm>
          <a:prstGeom prst="rect">
            <a:avLst/>
          </a:prstGeom>
          <a:solidFill>
            <a:srgbClr val="4C7DF0">
              <a:alpha val="3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744394" y="868680"/>
            <a:ext cx="229022" cy="1097280"/>
          </a:xfrm>
          <a:prstGeom prst="rect">
            <a:avLst/>
          </a:prstGeom>
          <a:solidFill>
            <a:srgbClr val="4C7DF0">
              <a:alpha val="33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962443" y="868680"/>
            <a:ext cx="229022" cy="1097280"/>
          </a:xfrm>
          <a:prstGeom prst="rect">
            <a:avLst/>
          </a:prstGeom>
          <a:solidFill>
            <a:srgbClr val="4C7DF0">
              <a:alpha val="31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2180492" y="868680"/>
            <a:ext cx="229022" cy="1097280"/>
          </a:xfrm>
          <a:prstGeom prst="rect">
            <a:avLst/>
          </a:prstGeom>
          <a:solidFill>
            <a:srgbClr val="4C7DF0">
              <a:alpha val="29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2398542" y="868680"/>
            <a:ext cx="229022" cy="1097280"/>
          </a:xfrm>
          <a:prstGeom prst="rect">
            <a:avLst/>
          </a:prstGeom>
          <a:solidFill>
            <a:srgbClr val="4C7DF0">
              <a:alpha val="27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616591" y="868680"/>
            <a:ext cx="229022" cy="1097280"/>
          </a:xfrm>
          <a:prstGeom prst="rect">
            <a:avLst/>
          </a:prstGeom>
          <a:solidFill>
            <a:srgbClr val="4C7DF0">
              <a:alpha val="2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2834640" y="868680"/>
            <a:ext cx="229022" cy="1097280"/>
          </a:xfrm>
          <a:prstGeom prst="rect">
            <a:avLst/>
          </a:prstGeom>
          <a:solidFill>
            <a:srgbClr val="4C7DF0">
              <a:alpha val="2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052689" y="868680"/>
            <a:ext cx="229022" cy="1097280"/>
          </a:xfrm>
          <a:prstGeom prst="rect">
            <a:avLst/>
          </a:prstGeom>
          <a:solidFill>
            <a:srgbClr val="4C7DF0">
              <a:alpha val="2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270738" y="868680"/>
            <a:ext cx="229022" cy="1097280"/>
          </a:xfrm>
          <a:prstGeom prst="rect">
            <a:avLst/>
          </a:prstGeom>
          <a:solidFill>
            <a:srgbClr val="4C7DF0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3488788" y="868680"/>
            <a:ext cx="229022" cy="1097280"/>
          </a:xfrm>
          <a:prstGeom prst="rect">
            <a:avLst/>
          </a:prstGeom>
          <a:solidFill>
            <a:srgbClr val="4C7DF0">
              <a:alpha val="1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3706837" y="868680"/>
            <a:ext cx="229022" cy="1097280"/>
          </a:xfrm>
          <a:prstGeom prst="rect">
            <a:avLst/>
          </a:prstGeom>
          <a:solidFill>
            <a:srgbClr val="4C7DF0">
              <a:alpha val="16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3924886" y="868680"/>
            <a:ext cx="229022" cy="1097280"/>
          </a:xfrm>
          <a:prstGeom prst="rect">
            <a:avLst/>
          </a:prstGeom>
          <a:solidFill>
            <a:srgbClr val="4C7DF0">
              <a:alpha val="14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142935" y="868680"/>
            <a:ext cx="229022" cy="1097280"/>
          </a:xfrm>
          <a:prstGeom prst="rect">
            <a:avLst/>
          </a:prstGeom>
          <a:solidFill>
            <a:srgbClr val="4C7DF0">
              <a:alpha val="1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4360985" y="868680"/>
            <a:ext cx="229022" cy="1097280"/>
          </a:xfrm>
          <a:prstGeom prst="rect">
            <a:avLst/>
          </a:prstGeom>
          <a:solidFill>
            <a:srgbClr val="4C7DF0">
              <a:alpha val="1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4579034" y="868680"/>
            <a:ext cx="229022" cy="1097280"/>
          </a:xfrm>
          <a:prstGeom prst="rect">
            <a:avLst/>
          </a:prstGeom>
          <a:solidFill>
            <a:srgbClr val="4C7DF0">
              <a:alpha val="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797083" y="868680"/>
            <a:ext cx="229022" cy="1097280"/>
          </a:xfrm>
          <a:prstGeom prst="rect">
            <a:avLst/>
          </a:prstGeom>
          <a:solidFill>
            <a:srgbClr val="4C7DF0">
              <a:alpha val="6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5015132" y="868680"/>
            <a:ext cx="229022" cy="1097280"/>
          </a:xfrm>
          <a:prstGeom prst="rect">
            <a:avLst/>
          </a:prstGeom>
          <a:solidFill>
            <a:srgbClr val="4C7DF0">
              <a:alpha val="4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5233182" y="868680"/>
            <a:ext cx="229022" cy="1097280"/>
          </a:xfrm>
          <a:prstGeom prst="rect">
            <a:avLst/>
          </a:prstGeom>
          <a:solidFill>
            <a:srgbClr val="4C7DF0">
              <a:alpha val="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451231" y="868680"/>
            <a:ext cx="229022" cy="1097280"/>
          </a:xfrm>
          <a:prstGeom prst="rect">
            <a:avLst/>
          </a:prstGeom>
          <a:solidFill>
            <a:srgbClr val="4C7DF0">
              <a:alpha val="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773582" y="10972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INTJの分身が、4グループから1体ずつ連れてくる</a:t>
            </a:r>
            <a:endParaRPr lang="en-US" sz="32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0" name="Shape 58"/>
          <p:cNvSpPr/>
          <p:nvPr/>
        </p:nvSpPr>
        <p:spPr>
          <a:xfrm rot="5400000">
            <a:off x="323972" y="1347615"/>
            <a:ext cx="247647" cy="160441"/>
          </a:xfrm>
          <a:prstGeom prst="triangle">
            <a:avLst/>
          </a:prstGeom>
          <a:solidFill>
            <a:srgbClr val="A9BFEA">
              <a:alpha val="33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5400000">
            <a:off x="222199" y="1319150"/>
            <a:ext cx="339242" cy="219959"/>
          </a:xfrm>
          <a:prstGeom prst="triangle">
            <a:avLst/>
          </a:prstGeom>
          <a:solidFill>
            <a:srgbClr val="4C7DF0"/>
          </a:solidFill>
          <a:ln/>
        </p:spPr>
      </p:sp>
      <p:sp>
        <p:nvSpPr>
          <p:cNvPr id="62" name="Shape 60"/>
          <p:cNvSpPr/>
          <p:nvPr/>
        </p:nvSpPr>
        <p:spPr>
          <a:xfrm>
            <a:off x="2331720" y="3520440"/>
            <a:ext cx="3764585" cy="0"/>
          </a:xfrm>
          <a:prstGeom prst="line">
            <a:avLst/>
          </a:prstGeom>
          <a:noFill/>
          <a:ln w="19050">
            <a:solidFill>
              <a:srgbClr val="9B7BF0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777240" y="2331720"/>
            <a:ext cx="3154680" cy="1371600"/>
          </a:xfrm>
          <a:custGeom>
            <a:avLst/>
            <a:gdLst/>
            <a:ahLst/>
            <a:cxnLst/>
            <a:rect l="l" t="t" r="r" b="b"/>
            <a:pathLst>
              <a:path w="3154680" h="1371600">
                <a:moveTo>
                  <a:pt x="228600" y="0"/>
                </a:moveTo>
                <a:lnTo>
                  <a:pt x="3154680" y="0"/>
                </a:lnTo>
                <a:lnTo>
                  <a:pt x="3154680" y="1143000"/>
                </a:lnTo>
                <a:lnTo>
                  <a:pt x="2926080" y="1371600"/>
                </a:lnTo>
                <a:lnTo>
                  <a:pt x="0" y="1371600"/>
                </a:lnTo>
                <a:lnTo>
                  <a:pt x="0" y="228600"/>
                </a:lnTo>
                <a:close/>
              </a:path>
            </a:pathLst>
          </a:custGeom>
          <a:solidFill>
            <a:srgbClr val="1A2F5E"/>
          </a:solidFill>
          <a:ln w="25400">
            <a:solidFill>
              <a:srgbClr val="9B7B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7240" y="2560320"/>
            <a:ext cx="109728" cy="914400"/>
          </a:xfrm>
          <a:prstGeom prst="rect">
            <a:avLst/>
          </a:prstGeom>
          <a:solidFill>
            <a:srgbClr val="9B7BF0"/>
          </a:solidFill>
          <a:ln/>
        </p:spPr>
      </p:sp>
      <p:sp>
        <p:nvSpPr>
          <p:cNvPr id="65" name="Text 63"/>
          <p:cNvSpPr/>
          <p:nvPr/>
        </p:nvSpPr>
        <p:spPr>
          <a:xfrm>
            <a:off x="1097280" y="2496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B7BF0"/>
                </a:solidFill>
                <a:latin typeface="Noto Sans CJK JP"/>
                <a:ea typeface="Noto Sans CJK JP"/>
                <a:cs typeface="Noto Sans CJK JP"/>
              </a:rPr>
              <a:t>分析家</a:t>
            </a:r>
            <a:endParaRPr lang="en-US" sz="14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109728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ENTP 討論者</a:t>
            </a:r>
            <a:endParaRPr lang="en-US" sz="20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1097280" y="3227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DEEE"/>
                </a:solidFill>
                <a:latin typeface="Noto Sans CJK JP"/>
                <a:ea typeface="Noto Sans CJK JP"/>
                <a:cs typeface="Noto Sans CJK JP"/>
              </a:rPr>
              <a:t>＝ 反論</a:t>
            </a:r>
            <a:endParaRPr lang="en-US" sz="16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6096305" y="3520440"/>
            <a:ext cx="3715207" cy="0"/>
          </a:xfrm>
          <a:prstGeom prst="line">
            <a:avLst/>
          </a:prstGeom>
          <a:noFill/>
          <a:ln w="19050">
            <a:solidFill>
              <a:srgbClr val="3CC48E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8257032" y="2331720"/>
            <a:ext cx="3154680" cy="1371600"/>
          </a:xfrm>
          <a:custGeom>
            <a:avLst/>
            <a:gdLst/>
            <a:ahLst/>
            <a:cxnLst/>
            <a:rect l="l" t="t" r="r" b="b"/>
            <a:pathLst>
              <a:path w="3154680" h="1371600">
                <a:moveTo>
                  <a:pt x="228600" y="0"/>
                </a:moveTo>
                <a:lnTo>
                  <a:pt x="3154680" y="0"/>
                </a:lnTo>
                <a:lnTo>
                  <a:pt x="3154680" y="1143000"/>
                </a:lnTo>
                <a:lnTo>
                  <a:pt x="2926080" y="1371600"/>
                </a:lnTo>
                <a:lnTo>
                  <a:pt x="0" y="1371600"/>
                </a:lnTo>
                <a:lnTo>
                  <a:pt x="0" y="228600"/>
                </a:lnTo>
                <a:close/>
              </a:path>
            </a:pathLst>
          </a:custGeom>
          <a:solidFill>
            <a:srgbClr val="1A2F5E"/>
          </a:solidFill>
          <a:ln w="25400">
            <a:solidFill>
              <a:srgbClr val="3CC4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57032" y="2560320"/>
            <a:ext cx="109728" cy="914400"/>
          </a:xfrm>
          <a:prstGeom prst="rect">
            <a:avLst/>
          </a:prstGeom>
          <a:solidFill>
            <a:srgbClr val="3CC48E"/>
          </a:solidFill>
          <a:ln/>
        </p:spPr>
      </p:sp>
      <p:sp>
        <p:nvSpPr>
          <p:cNvPr id="71" name="Text 69"/>
          <p:cNvSpPr/>
          <p:nvPr/>
        </p:nvSpPr>
        <p:spPr>
          <a:xfrm>
            <a:off x="8577072" y="2496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CC48E"/>
                </a:solidFill>
                <a:latin typeface="Noto Sans CJK JP"/>
                <a:ea typeface="Noto Sans CJK JP"/>
                <a:cs typeface="Noto Sans CJK JP"/>
              </a:rPr>
              <a:t>外交官</a:t>
            </a:r>
            <a:endParaRPr lang="en-US" sz="14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8577072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ENFP 運動家</a:t>
            </a:r>
            <a:endParaRPr lang="en-US" sz="20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8577072" y="3227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DEEE"/>
                </a:solidFill>
                <a:latin typeface="Noto Sans CJK JP"/>
                <a:ea typeface="Noto Sans CJK JP"/>
                <a:cs typeface="Noto Sans CJK JP"/>
              </a:rPr>
              <a:t>＝ 発想</a:t>
            </a:r>
            <a:endParaRPr lang="en-US" sz="16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2331720" y="4846320"/>
            <a:ext cx="3764585" cy="0"/>
          </a:xfrm>
          <a:prstGeom prst="line">
            <a:avLst/>
          </a:prstGeom>
          <a:noFill/>
          <a:ln w="19050">
            <a:solidFill>
              <a:srgbClr val="4A9BF5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777240" y="4709160"/>
            <a:ext cx="3154680" cy="1371600"/>
          </a:xfrm>
          <a:custGeom>
            <a:avLst/>
            <a:gdLst/>
            <a:ahLst/>
            <a:cxnLst/>
            <a:rect l="l" t="t" r="r" b="b"/>
            <a:pathLst>
              <a:path w="3154680" h="1371600">
                <a:moveTo>
                  <a:pt x="228600" y="0"/>
                </a:moveTo>
                <a:lnTo>
                  <a:pt x="3154680" y="0"/>
                </a:lnTo>
                <a:lnTo>
                  <a:pt x="3154680" y="1143000"/>
                </a:lnTo>
                <a:lnTo>
                  <a:pt x="2926080" y="1371600"/>
                </a:lnTo>
                <a:lnTo>
                  <a:pt x="0" y="1371600"/>
                </a:lnTo>
                <a:lnTo>
                  <a:pt x="0" y="228600"/>
                </a:lnTo>
                <a:close/>
              </a:path>
            </a:pathLst>
          </a:custGeom>
          <a:solidFill>
            <a:srgbClr val="1A2F5E"/>
          </a:solidFill>
          <a:ln w="25400">
            <a:solidFill>
              <a:srgbClr val="4A9BF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77240" y="4937760"/>
            <a:ext cx="109728" cy="914400"/>
          </a:xfrm>
          <a:prstGeom prst="rect">
            <a:avLst/>
          </a:prstGeom>
          <a:solidFill>
            <a:srgbClr val="4A9BF5"/>
          </a:solidFill>
          <a:ln/>
        </p:spPr>
      </p:sp>
      <p:sp>
        <p:nvSpPr>
          <p:cNvPr id="77" name="Text 75"/>
          <p:cNvSpPr/>
          <p:nvPr/>
        </p:nvSpPr>
        <p:spPr>
          <a:xfrm>
            <a:off x="1097280" y="4873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9BF5"/>
                </a:solidFill>
                <a:latin typeface="Noto Sans CJK JP"/>
                <a:ea typeface="Noto Sans CJK JP"/>
                <a:cs typeface="Noto Sans CJK JP"/>
              </a:rPr>
              <a:t>番人</a:t>
            </a:r>
            <a:endParaRPr lang="en-US" sz="14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1097280" y="5166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ISTJ 管理者</a:t>
            </a:r>
            <a:endParaRPr lang="en-US" sz="20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1097280" y="56052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DEEE"/>
                </a:solidFill>
                <a:latin typeface="Noto Sans CJK JP"/>
                <a:ea typeface="Noto Sans CJK JP"/>
                <a:cs typeface="Noto Sans CJK JP"/>
              </a:rPr>
              <a:t>＝ 実務</a:t>
            </a:r>
            <a:endParaRPr lang="en-US" sz="16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6096305" y="4846320"/>
            <a:ext cx="3715207" cy="0"/>
          </a:xfrm>
          <a:prstGeom prst="line">
            <a:avLst/>
          </a:prstGeom>
          <a:noFill/>
          <a:ln w="19050">
            <a:solidFill>
              <a:srgbClr val="F5C542"/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>
            <a:off x="8257032" y="4709160"/>
            <a:ext cx="3154680" cy="1371600"/>
          </a:xfrm>
          <a:custGeom>
            <a:avLst/>
            <a:gdLst/>
            <a:ahLst/>
            <a:cxnLst/>
            <a:rect l="l" t="t" r="r" b="b"/>
            <a:pathLst>
              <a:path w="3154680" h="1371600">
                <a:moveTo>
                  <a:pt x="228600" y="0"/>
                </a:moveTo>
                <a:lnTo>
                  <a:pt x="3154680" y="0"/>
                </a:lnTo>
                <a:lnTo>
                  <a:pt x="3154680" y="1143000"/>
                </a:lnTo>
                <a:lnTo>
                  <a:pt x="2926080" y="1371600"/>
                </a:lnTo>
                <a:lnTo>
                  <a:pt x="0" y="1371600"/>
                </a:lnTo>
                <a:lnTo>
                  <a:pt x="0" y="228600"/>
                </a:lnTo>
                <a:close/>
              </a:path>
            </a:pathLst>
          </a:custGeom>
          <a:solidFill>
            <a:srgbClr val="1A2F5E"/>
          </a:solidFill>
          <a:ln w="25400">
            <a:solidFill>
              <a:srgbClr val="F5C54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257032" y="4937760"/>
            <a:ext cx="109728" cy="914400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83" name="Text 81"/>
          <p:cNvSpPr/>
          <p:nvPr/>
        </p:nvSpPr>
        <p:spPr>
          <a:xfrm>
            <a:off x="8577072" y="4873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C542"/>
                </a:solidFill>
                <a:latin typeface="Noto Sans CJK JP"/>
                <a:ea typeface="Noto Sans CJK JP"/>
                <a:cs typeface="Noto Sans CJK JP"/>
              </a:rPr>
              <a:t>探検家</a:t>
            </a:r>
            <a:endParaRPr lang="en-US" sz="14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8577072" y="5166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ESTP 起業家</a:t>
            </a:r>
            <a:endParaRPr lang="en-US" sz="20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8577072" y="56052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DEEE"/>
                </a:solidFill>
                <a:latin typeface="Noto Sans CJK JP"/>
                <a:ea typeface="Noto Sans CJK JP"/>
                <a:cs typeface="Noto Sans CJK JP"/>
              </a:rPr>
              <a:t>＝ 実行</a:t>
            </a:r>
            <a:endParaRPr lang="en-US" sz="16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4663440" y="3246120"/>
            <a:ext cx="2862072" cy="1828800"/>
          </a:xfrm>
          <a:custGeom>
            <a:avLst/>
            <a:gdLst/>
            <a:ahLst/>
            <a:cxnLst/>
            <a:rect l="l" t="t" r="r" b="b"/>
            <a:pathLst>
              <a:path w="2862072" h="1828800">
                <a:moveTo>
                  <a:pt x="274320" y="0"/>
                </a:moveTo>
                <a:lnTo>
                  <a:pt x="2587752" y="0"/>
                </a:lnTo>
                <a:lnTo>
                  <a:pt x="2862072" y="274320"/>
                </a:lnTo>
                <a:lnTo>
                  <a:pt x="2862072" y="1554480"/>
                </a:lnTo>
                <a:lnTo>
                  <a:pt x="2587752" y="1828800"/>
                </a:lnTo>
                <a:lnTo>
                  <a:pt x="274320" y="1828800"/>
                </a:lnTo>
                <a:lnTo>
                  <a:pt x="0" y="1554480"/>
                </a:lnTo>
                <a:lnTo>
                  <a:pt x="0" y="274320"/>
                </a:lnTo>
                <a:close/>
              </a:path>
            </a:pathLst>
          </a:custGeom>
          <a:solidFill>
            <a:srgbClr val="4C7DF0"/>
          </a:solidFill>
          <a:ln/>
        </p:spPr>
      </p:sp>
      <p:sp>
        <p:nvSpPr>
          <p:cNvPr id="87" name="Text 85"/>
          <p:cNvSpPr/>
          <p:nvPr/>
        </p:nvSpPr>
        <p:spPr>
          <a:xfrm>
            <a:off x="4663440" y="34290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窓口（分身）</a:t>
            </a:r>
            <a:endParaRPr lang="en-US" sz="15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4663440" y="3794760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INTJ</a:t>
            </a:r>
            <a:endParaRPr lang="en-US" sz="34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4663440" y="443484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MBTI Bot Hub</a:t>
            </a:r>
            <a:endParaRPr lang="en-US" sz="15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3566160" y="6263640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FEA"/>
                </a:solidFill>
                <a:latin typeface="Noto Sans CJK JP"/>
                <a:ea typeface="Noto Sans CJK JP"/>
                <a:cs typeface="Noto Sans CJK JP"/>
              </a:rPr>
              <a:t>本人と同じINTJは入れない（分身が担うため）</a:t>
            </a:r>
            <a:endParaRPr lang="en-US" sz="1500" dirty="0">
              <a:latin typeface="Noto Sans CJK JP"/>
              <a:ea typeface="Noto Sans CJK JP"/>
              <a:cs typeface="Noto Sans CJK JP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246888"/>
          </a:xfrm>
          <a:prstGeom prst="rect">
            <a:avLst/>
          </a:prstGeom>
          <a:solidFill>
            <a:srgbClr val="1A2F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"/>
            <a:ext cx="12191970" cy="246888"/>
          </a:xfrm>
          <a:prstGeom prst="rect">
            <a:avLst/>
          </a:prstGeom>
          <a:solidFill>
            <a:srgbClr val="1A2F5E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0"/>
            <a:ext cx="12191970" cy="246888"/>
          </a:xfrm>
          <a:prstGeom prst="rect">
            <a:avLst/>
          </a:prstGeom>
          <a:solidFill>
            <a:srgbClr val="1A2F5E">
              <a:alpha val="9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5800"/>
            <a:ext cx="12191970" cy="246888"/>
          </a:xfrm>
          <a:prstGeom prst="rect">
            <a:avLst/>
          </a:prstGeom>
          <a:solidFill>
            <a:srgbClr val="1A2F5E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14400"/>
            <a:ext cx="12191970" cy="246888"/>
          </a:xfrm>
          <a:prstGeom prst="rect">
            <a:avLst/>
          </a:prstGeom>
          <a:solidFill>
            <a:srgbClr val="1A2F5E">
              <a:alpha val="8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143000"/>
            <a:ext cx="12191970" cy="246888"/>
          </a:xfrm>
          <a:prstGeom prst="rect">
            <a:avLst/>
          </a:prstGeom>
          <a:solidFill>
            <a:srgbClr val="1A2F5E">
              <a:alpha val="8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71600"/>
            <a:ext cx="12191970" cy="246888"/>
          </a:xfrm>
          <a:prstGeom prst="rect">
            <a:avLst/>
          </a:prstGeom>
          <a:solidFill>
            <a:srgbClr val="1A2F5E">
              <a:alpha val="7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600200"/>
            <a:ext cx="12191970" cy="246888"/>
          </a:xfrm>
          <a:prstGeom prst="rect">
            <a:avLst/>
          </a:prstGeom>
          <a:solidFill>
            <a:srgbClr val="1A2F5E">
              <a:alpha val="7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8800"/>
            <a:ext cx="12191970" cy="246888"/>
          </a:xfrm>
          <a:prstGeom prst="rect">
            <a:avLst/>
          </a:prstGeom>
          <a:solidFill>
            <a:srgbClr val="1A2F5E">
              <a:alpha val="7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57400"/>
            <a:ext cx="12191970" cy="246888"/>
          </a:xfrm>
          <a:prstGeom prst="rect">
            <a:avLst/>
          </a:prstGeom>
          <a:solidFill>
            <a:srgbClr val="1A2F5E">
              <a:alpha val="6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286000"/>
            <a:ext cx="12191970" cy="246888"/>
          </a:xfrm>
          <a:prstGeom prst="rect">
            <a:avLst/>
          </a:prstGeom>
          <a:solidFill>
            <a:srgbClr val="1A2F5E">
              <a:alpha val="6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14600"/>
            <a:ext cx="12191970" cy="246888"/>
          </a:xfrm>
          <a:prstGeom prst="rect">
            <a:avLst/>
          </a:prstGeom>
          <a:solidFill>
            <a:srgbClr val="1A2F5E">
              <a:alpha val="6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743200"/>
            <a:ext cx="12191970" cy="246888"/>
          </a:xfrm>
          <a:prstGeom prst="rect">
            <a:avLst/>
          </a:prstGeom>
          <a:solidFill>
            <a:srgbClr val="1A2F5E">
              <a:alpha val="59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971800"/>
            <a:ext cx="12191970" cy="246888"/>
          </a:xfrm>
          <a:prstGeom prst="rect">
            <a:avLst/>
          </a:prstGeom>
          <a:solidFill>
            <a:srgbClr val="1A2F5E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3200400"/>
            <a:ext cx="12191970" cy="246888"/>
          </a:xfrm>
          <a:prstGeom prst="rect">
            <a:avLst/>
          </a:prstGeom>
          <a:solidFill>
            <a:srgbClr val="1A2F5E">
              <a:alpha val="5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3429000"/>
            <a:ext cx="12191970" cy="246888"/>
          </a:xfrm>
          <a:prstGeom prst="rect">
            <a:avLst/>
          </a:prstGeom>
          <a:solidFill>
            <a:srgbClr val="1A2F5E">
              <a:alpha val="4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3657600"/>
            <a:ext cx="12191970" cy="246888"/>
          </a:xfrm>
          <a:prstGeom prst="rect">
            <a:avLst/>
          </a:prstGeom>
          <a:solidFill>
            <a:srgbClr val="1A2F5E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3886200"/>
            <a:ext cx="12191970" cy="246888"/>
          </a:xfrm>
          <a:prstGeom prst="rect">
            <a:avLst/>
          </a:prstGeom>
          <a:solidFill>
            <a:srgbClr val="1A2F5E">
              <a:alpha val="41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4114800"/>
            <a:ext cx="12191970" cy="246888"/>
          </a:xfrm>
          <a:prstGeom prst="rect">
            <a:avLst/>
          </a:prstGeom>
          <a:solidFill>
            <a:srgbClr val="1A2F5E">
              <a:alpha val="3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4343400"/>
            <a:ext cx="12191970" cy="246888"/>
          </a:xfrm>
          <a:prstGeom prst="rect">
            <a:avLst/>
          </a:prstGeom>
          <a:solidFill>
            <a:srgbClr val="1A2F5E">
              <a:alpha val="3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572000"/>
            <a:ext cx="12191970" cy="246888"/>
          </a:xfrm>
          <a:prstGeom prst="rect">
            <a:avLst/>
          </a:prstGeom>
          <a:solidFill>
            <a:srgbClr val="1A2F5E">
              <a:alpha val="31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4800600"/>
            <a:ext cx="12191970" cy="246888"/>
          </a:xfrm>
          <a:prstGeom prst="rect">
            <a:avLst/>
          </a:prstGeom>
          <a:solidFill>
            <a:srgbClr val="1A2F5E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5029200"/>
            <a:ext cx="12191970" cy="246888"/>
          </a:xfrm>
          <a:prstGeom prst="rect">
            <a:avLst/>
          </a:prstGeom>
          <a:solidFill>
            <a:srgbClr val="1A2F5E">
              <a:alpha val="2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257800"/>
            <a:ext cx="12191970" cy="246888"/>
          </a:xfrm>
          <a:prstGeom prst="rect">
            <a:avLst/>
          </a:prstGeom>
          <a:solidFill>
            <a:srgbClr val="1A2F5E">
              <a:alpha val="21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5486400"/>
            <a:ext cx="12191970" cy="246888"/>
          </a:xfrm>
          <a:prstGeom prst="rect">
            <a:avLst/>
          </a:prstGeom>
          <a:solidFill>
            <a:srgbClr val="1A2F5E">
              <a:alpha val="17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5715000"/>
            <a:ext cx="12191970" cy="246888"/>
          </a:xfrm>
          <a:prstGeom prst="rect">
            <a:avLst/>
          </a:prstGeom>
          <a:solidFill>
            <a:srgbClr val="1A2F5E">
              <a:alpha val="1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5943600"/>
            <a:ext cx="12191970" cy="246888"/>
          </a:xfrm>
          <a:prstGeom prst="rect">
            <a:avLst/>
          </a:prstGeom>
          <a:solidFill>
            <a:srgbClr val="1A2F5E">
              <a:alpha val="1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6172200"/>
            <a:ext cx="12191970" cy="246888"/>
          </a:xfrm>
          <a:prstGeom prst="rect">
            <a:avLst/>
          </a:prstGeom>
          <a:solidFill>
            <a:srgbClr val="1A2F5E">
              <a:alpha val="7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400800"/>
            <a:ext cx="12191970" cy="246888"/>
          </a:xfrm>
          <a:prstGeom prst="rect">
            <a:avLst/>
          </a:prstGeom>
          <a:solidFill>
            <a:srgbClr val="1A2F5E">
              <a:alpha val="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6629400"/>
            <a:ext cx="12191970" cy="246888"/>
          </a:xfrm>
          <a:prstGeom prst="rect">
            <a:avLst/>
          </a:prstGeom>
          <a:solidFill>
            <a:srgbClr val="1A2F5E">
              <a:alpha val="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73582" y="410566"/>
            <a:ext cx="360365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MBTI BOT HUB</a:t>
            </a:r>
            <a:endParaRPr lang="en-US" sz="11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0" y="868680"/>
            <a:ext cx="229022" cy="1097280"/>
          </a:xfrm>
          <a:prstGeom prst="rect">
            <a:avLst/>
          </a:prstGeom>
          <a:solidFill>
            <a:srgbClr val="4C7DF0">
              <a:alpha val="49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8049" y="868680"/>
            <a:ext cx="229022" cy="1097280"/>
          </a:xfrm>
          <a:prstGeom prst="rect">
            <a:avLst/>
          </a:prstGeom>
          <a:solidFill>
            <a:srgbClr val="4C7DF0">
              <a:alpha val="47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6098" y="868680"/>
            <a:ext cx="229022" cy="1097280"/>
          </a:xfrm>
          <a:prstGeom prst="rect">
            <a:avLst/>
          </a:prstGeom>
          <a:solidFill>
            <a:srgbClr val="4C7DF0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54148" y="868680"/>
            <a:ext cx="229022" cy="1097280"/>
          </a:xfrm>
          <a:prstGeom prst="rect">
            <a:avLst/>
          </a:prstGeom>
          <a:solidFill>
            <a:srgbClr val="4C7DF0">
              <a:alpha val="43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2197" y="868680"/>
            <a:ext cx="229022" cy="1097280"/>
          </a:xfrm>
          <a:prstGeom prst="rect">
            <a:avLst/>
          </a:prstGeom>
          <a:solidFill>
            <a:srgbClr val="4C7DF0">
              <a:alpha val="41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90246" y="868680"/>
            <a:ext cx="229022" cy="1097280"/>
          </a:xfrm>
          <a:prstGeom prst="rect">
            <a:avLst/>
          </a:prstGeom>
          <a:solidFill>
            <a:srgbClr val="4C7DF0">
              <a:alpha val="39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308295" y="868680"/>
            <a:ext cx="229022" cy="1097280"/>
          </a:xfrm>
          <a:prstGeom prst="rect">
            <a:avLst/>
          </a:prstGeom>
          <a:solidFill>
            <a:srgbClr val="4C7DF0">
              <a:alpha val="37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526345" y="868680"/>
            <a:ext cx="229022" cy="1097280"/>
          </a:xfrm>
          <a:prstGeom prst="rect">
            <a:avLst/>
          </a:prstGeom>
          <a:solidFill>
            <a:srgbClr val="4C7DF0">
              <a:alpha val="3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744394" y="868680"/>
            <a:ext cx="229022" cy="1097280"/>
          </a:xfrm>
          <a:prstGeom prst="rect">
            <a:avLst/>
          </a:prstGeom>
          <a:solidFill>
            <a:srgbClr val="4C7DF0">
              <a:alpha val="33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962443" y="868680"/>
            <a:ext cx="229022" cy="1097280"/>
          </a:xfrm>
          <a:prstGeom prst="rect">
            <a:avLst/>
          </a:prstGeom>
          <a:solidFill>
            <a:srgbClr val="4C7DF0">
              <a:alpha val="31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2180492" y="868680"/>
            <a:ext cx="229022" cy="1097280"/>
          </a:xfrm>
          <a:prstGeom prst="rect">
            <a:avLst/>
          </a:prstGeom>
          <a:solidFill>
            <a:srgbClr val="4C7DF0">
              <a:alpha val="29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2398542" y="868680"/>
            <a:ext cx="229022" cy="1097280"/>
          </a:xfrm>
          <a:prstGeom prst="rect">
            <a:avLst/>
          </a:prstGeom>
          <a:solidFill>
            <a:srgbClr val="4C7DF0">
              <a:alpha val="27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616591" y="868680"/>
            <a:ext cx="229022" cy="1097280"/>
          </a:xfrm>
          <a:prstGeom prst="rect">
            <a:avLst/>
          </a:prstGeom>
          <a:solidFill>
            <a:srgbClr val="4C7DF0">
              <a:alpha val="2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2834640" y="868680"/>
            <a:ext cx="229022" cy="1097280"/>
          </a:xfrm>
          <a:prstGeom prst="rect">
            <a:avLst/>
          </a:prstGeom>
          <a:solidFill>
            <a:srgbClr val="4C7DF0">
              <a:alpha val="2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052689" y="868680"/>
            <a:ext cx="229022" cy="1097280"/>
          </a:xfrm>
          <a:prstGeom prst="rect">
            <a:avLst/>
          </a:prstGeom>
          <a:solidFill>
            <a:srgbClr val="4C7DF0">
              <a:alpha val="2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270738" y="868680"/>
            <a:ext cx="229022" cy="1097280"/>
          </a:xfrm>
          <a:prstGeom prst="rect">
            <a:avLst/>
          </a:prstGeom>
          <a:solidFill>
            <a:srgbClr val="4C7DF0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3488788" y="868680"/>
            <a:ext cx="229022" cy="1097280"/>
          </a:xfrm>
          <a:prstGeom prst="rect">
            <a:avLst/>
          </a:prstGeom>
          <a:solidFill>
            <a:srgbClr val="4C7DF0">
              <a:alpha val="1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3706837" y="868680"/>
            <a:ext cx="229022" cy="1097280"/>
          </a:xfrm>
          <a:prstGeom prst="rect">
            <a:avLst/>
          </a:prstGeom>
          <a:solidFill>
            <a:srgbClr val="4C7DF0">
              <a:alpha val="16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3924886" y="868680"/>
            <a:ext cx="229022" cy="1097280"/>
          </a:xfrm>
          <a:prstGeom prst="rect">
            <a:avLst/>
          </a:prstGeom>
          <a:solidFill>
            <a:srgbClr val="4C7DF0">
              <a:alpha val="14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142935" y="868680"/>
            <a:ext cx="229022" cy="1097280"/>
          </a:xfrm>
          <a:prstGeom prst="rect">
            <a:avLst/>
          </a:prstGeom>
          <a:solidFill>
            <a:srgbClr val="4C7DF0">
              <a:alpha val="1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4360985" y="868680"/>
            <a:ext cx="229022" cy="1097280"/>
          </a:xfrm>
          <a:prstGeom prst="rect">
            <a:avLst/>
          </a:prstGeom>
          <a:solidFill>
            <a:srgbClr val="4C7DF0">
              <a:alpha val="1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4579034" y="868680"/>
            <a:ext cx="229022" cy="1097280"/>
          </a:xfrm>
          <a:prstGeom prst="rect">
            <a:avLst/>
          </a:prstGeom>
          <a:solidFill>
            <a:srgbClr val="4C7DF0">
              <a:alpha val="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797083" y="868680"/>
            <a:ext cx="229022" cy="1097280"/>
          </a:xfrm>
          <a:prstGeom prst="rect">
            <a:avLst/>
          </a:prstGeom>
          <a:solidFill>
            <a:srgbClr val="4C7DF0">
              <a:alpha val="6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5015132" y="868680"/>
            <a:ext cx="229022" cy="1097280"/>
          </a:xfrm>
          <a:prstGeom prst="rect">
            <a:avLst/>
          </a:prstGeom>
          <a:solidFill>
            <a:srgbClr val="4C7DF0">
              <a:alpha val="4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5233182" y="868680"/>
            <a:ext cx="229022" cy="1097280"/>
          </a:xfrm>
          <a:prstGeom prst="rect">
            <a:avLst/>
          </a:prstGeom>
          <a:solidFill>
            <a:srgbClr val="4C7DF0">
              <a:alpha val="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451231" y="868680"/>
            <a:ext cx="229022" cy="1097280"/>
          </a:xfrm>
          <a:prstGeom prst="rect">
            <a:avLst/>
          </a:prstGeom>
          <a:solidFill>
            <a:srgbClr val="4C7DF0">
              <a:alpha val="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773582" y="10972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実際にこの提出物づくりを、4体で分担した</a:t>
            </a:r>
            <a:endParaRPr lang="en-US" sz="32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0" name="Shape 58"/>
          <p:cNvSpPr/>
          <p:nvPr/>
        </p:nvSpPr>
        <p:spPr>
          <a:xfrm rot="5400000">
            <a:off x="323972" y="1347615"/>
            <a:ext cx="247647" cy="160441"/>
          </a:xfrm>
          <a:prstGeom prst="triangle">
            <a:avLst/>
          </a:prstGeom>
          <a:solidFill>
            <a:srgbClr val="A9BFEA">
              <a:alpha val="33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5400000">
            <a:off x="222199" y="1319150"/>
            <a:ext cx="339242" cy="219959"/>
          </a:xfrm>
          <a:prstGeom prst="triangle">
            <a:avLst/>
          </a:prstGeom>
          <a:solidFill>
            <a:srgbClr val="4C7DF0"/>
          </a:solidFill>
          <a:ln/>
        </p:spPr>
      </p:sp>
      <p:sp>
        <p:nvSpPr>
          <p:cNvPr id="62" name="Shape 60"/>
          <p:cNvSpPr/>
          <p:nvPr/>
        </p:nvSpPr>
        <p:spPr>
          <a:xfrm>
            <a:off x="777240" y="3913632"/>
            <a:ext cx="8229600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63" name="Shape 61"/>
          <p:cNvSpPr/>
          <p:nvPr/>
        </p:nvSpPr>
        <p:spPr>
          <a:xfrm>
            <a:off x="777240" y="3246120"/>
            <a:ext cx="1874520" cy="868680"/>
          </a:xfrm>
          <a:custGeom>
            <a:avLst/>
            <a:gdLst/>
            <a:ahLst/>
            <a:cxnLst/>
            <a:rect l="l" t="t" r="r" b="b"/>
            <a:pathLst>
              <a:path w="1874520" h="868680">
                <a:moveTo>
                  <a:pt x="256032" y="0"/>
                </a:moveTo>
                <a:lnTo>
                  <a:pt x="1618488" y="0"/>
                </a:lnTo>
                <a:lnTo>
                  <a:pt x="1874520" y="256032"/>
                </a:lnTo>
                <a:lnTo>
                  <a:pt x="1874520" y="868680"/>
                </a:lnTo>
                <a:lnTo>
                  <a:pt x="0" y="868680"/>
                </a:lnTo>
                <a:lnTo>
                  <a:pt x="0" y="256032"/>
                </a:lnTo>
                <a:close/>
              </a:path>
            </a:pathLst>
          </a:custGeom>
          <a:solidFill>
            <a:srgbClr val="3CC48E"/>
          </a:solidFill>
          <a:ln/>
        </p:spPr>
      </p:sp>
      <p:sp>
        <p:nvSpPr>
          <p:cNvPr id="64" name="Text 62"/>
          <p:cNvSpPr/>
          <p:nvPr/>
        </p:nvSpPr>
        <p:spPr>
          <a:xfrm>
            <a:off x="777240" y="32461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428"/>
                </a:solidFill>
                <a:latin typeface="Noto Sans CJK JP"/>
                <a:ea typeface="Noto Sans CJK JP"/>
                <a:cs typeface="Noto Sans CJK JP"/>
              </a:rPr>
              <a:t>ENFP</a:t>
            </a:r>
            <a:endParaRPr lang="en-US" sz="24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31520" y="44348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作品名とコピー</a:t>
            </a:r>
            <a:endParaRPr lang="en-US" sz="20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2880360" y="3246120"/>
            <a:ext cx="1874520" cy="868680"/>
          </a:xfrm>
          <a:custGeom>
            <a:avLst/>
            <a:gdLst/>
            <a:ahLst/>
            <a:cxnLst/>
            <a:rect l="l" t="t" r="r" b="b"/>
            <a:pathLst>
              <a:path w="1874520" h="868680">
                <a:moveTo>
                  <a:pt x="256032" y="0"/>
                </a:moveTo>
                <a:lnTo>
                  <a:pt x="1618488" y="0"/>
                </a:lnTo>
                <a:lnTo>
                  <a:pt x="1874520" y="256032"/>
                </a:lnTo>
                <a:lnTo>
                  <a:pt x="1874520" y="868680"/>
                </a:lnTo>
                <a:lnTo>
                  <a:pt x="0" y="868680"/>
                </a:lnTo>
                <a:lnTo>
                  <a:pt x="0" y="256032"/>
                </a:lnTo>
                <a:close/>
              </a:path>
            </a:pathLst>
          </a:custGeom>
          <a:solidFill>
            <a:srgbClr val="9B7BF0"/>
          </a:solidFill>
          <a:ln/>
        </p:spPr>
      </p:sp>
      <p:sp>
        <p:nvSpPr>
          <p:cNvPr id="67" name="Text 65"/>
          <p:cNvSpPr/>
          <p:nvPr/>
        </p:nvSpPr>
        <p:spPr>
          <a:xfrm>
            <a:off x="2880360" y="32461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428"/>
                </a:solidFill>
                <a:latin typeface="Noto Sans CJK JP"/>
                <a:ea typeface="Noto Sans CJK JP"/>
                <a:cs typeface="Noto Sans CJK JP"/>
              </a:rPr>
              <a:t>ENTP</a:t>
            </a:r>
            <a:endParaRPr lang="en-US" sz="24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2834640" y="44348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弱点と切り返し</a:t>
            </a:r>
            <a:endParaRPr lang="en-US" sz="20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4983480" y="3246120"/>
            <a:ext cx="1874520" cy="868680"/>
          </a:xfrm>
          <a:custGeom>
            <a:avLst/>
            <a:gdLst/>
            <a:ahLst/>
            <a:cxnLst/>
            <a:rect l="l" t="t" r="r" b="b"/>
            <a:pathLst>
              <a:path w="1874520" h="868680">
                <a:moveTo>
                  <a:pt x="256032" y="0"/>
                </a:moveTo>
                <a:lnTo>
                  <a:pt x="1618488" y="0"/>
                </a:lnTo>
                <a:lnTo>
                  <a:pt x="1874520" y="256032"/>
                </a:lnTo>
                <a:lnTo>
                  <a:pt x="1874520" y="868680"/>
                </a:lnTo>
                <a:lnTo>
                  <a:pt x="0" y="868680"/>
                </a:lnTo>
                <a:lnTo>
                  <a:pt x="0" y="256032"/>
                </a:lnTo>
                <a:close/>
              </a:path>
            </a:pathLst>
          </a:custGeom>
          <a:solidFill>
            <a:srgbClr val="4A9BF5"/>
          </a:solidFill>
          <a:ln/>
        </p:spPr>
      </p:sp>
      <p:sp>
        <p:nvSpPr>
          <p:cNvPr id="70" name="Text 68"/>
          <p:cNvSpPr/>
          <p:nvPr/>
        </p:nvSpPr>
        <p:spPr>
          <a:xfrm>
            <a:off x="4983480" y="32461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428"/>
                </a:solidFill>
                <a:latin typeface="Noto Sans CJK JP"/>
                <a:ea typeface="Noto Sans CJK JP"/>
                <a:cs typeface="Noto Sans CJK JP"/>
              </a:rPr>
              <a:t>ISTJ</a:t>
            </a:r>
            <a:endParaRPr lang="en-US" sz="24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4937760" y="44348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使い方と</a:t>
            </a:r>
            <a:endParaRPr lang="en-US" sz="2000" dirty="0">
              <a:latin typeface="Noto Sans CJK JP"/>
              <a:ea typeface="Noto Sans CJK JP"/>
              <a:cs typeface="Noto Sans CJK JP"/>
            </a:endParaRPr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チェックリスト</a:t>
            </a:r>
            <a:endParaRPr lang="en-US" sz="20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7086600" y="3246120"/>
            <a:ext cx="1874520" cy="868680"/>
          </a:xfrm>
          <a:custGeom>
            <a:avLst/>
            <a:gdLst/>
            <a:ahLst/>
            <a:cxnLst/>
            <a:rect l="l" t="t" r="r" b="b"/>
            <a:pathLst>
              <a:path w="1874520" h="868680">
                <a:moveTo>
                  <a:pt x="256032" y="0"/>
                </a:moveTo>
                <a:lnTo>
                  <a:pt x="1618488" y="0"/>
                </a:lnTo>
                <a:lnTo>
                  <a:pt x="1874520" y="256032"/>
                </a:lnTo>
                <a:lnTo>
                  <a:pt x="1874520" y="868680"/>
                </a:lnTo>
                <a:lnTo>
                  <a:pt x="0" y="868680"/>
                </a:lnTo>
                <a:lnTo>
                  <a:pt x="0" y="256032"/>
                </a:lnTo>
                <a:close/>
              </a:path>
            </a:pathLst>
          </a:custGeom>
          <a:solidFill>
            <a:srgbClr val="F5C542"/>
          </a:solidFill>
          <a:ln/>
        </p:spPr>
      </p:sp>
      <p:sp>
        <p:nvSpPr>
          <p:cNvPr id="73" name="Text 71"/>
          <p:cNvSpPr/>
          <p:nvPr/>
        </p:nvSpPr>
        <p:spPr>
          <a:xfrm>
            <a:off x="7086600" y="32461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428"/>
                </a:solidFill>
                <a:latin typeface="Noto Sans CJK JP"/>
                <a:ea typeface="Noto Sans CJK JP"/>
                <a:cs typeface="Noto Sans CJK JP"/>
              </a:rPr>
              <a:t>ESTP</a:t>
            </a:r>
            <a:endParaRPr lang="en-US" sz="24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7040880" y="44348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説明文と</a:t>
            </a:r>
            <a:endParaRPr lang="en-US" sz="2000" dirty="0">
              <a:latin typeface="Noto Sans CJK JP"/>
              <a:ea typeface="Noto Sans CJK JP"/>
              <a:cs typeface="Noto Sans CJK JP"/>
            </a:endParaRPr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デモ台本</a:t>
            </a:r>
            <a:endParaRPr lang="en-US" sz="20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9144000" y="32461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9BFEA"/>
                </a:solidFill>
                <a:latin typeface="Noto Sans CJK JP"/>
                <a:ea typeface="Noto Sans CJK JP"/>
                <a:cs typeface="Noto Sans CJK JP"/>
              </a:rPr>
              <a:t>→</a:t>
            </a:r>
            <a:endParaRPr lang="en-US" sz="32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9738360" y="2880360"/>
            <a:ext cx="1828800" cy="1600200"/>
          </a:xfrm>
          <a:custGeom>
            <a:avLst/>
            <a:gdLst/>
            <a:ahLst/>
            <a:cxnLst/>
            <a:rect l="l" t="t" r="r" b="b"/>
            <a:pathLst>
              <a:path w="1828800" h="1600200">
                <a:moveTo>
                  <a:pt x="274320" y="0"/>
                </a:moveTo>
                <a:lnTo>
                  <a:pt x="1554480" y="0"/>
                </a:lnTo>
                <a:lnTo>
                  <a:pt x="1828800" y="274320"/>
                </a:lnTo>
                <a:lnTo>
                  <a:pt x="1828800" y="1325880"/>
                </a:lnTo>
                <a:lnTo>
                  <a:pt x="1554480" y="1600200"/>
                </a:lnTo>
                <a:lnTo>
                  <a:pt x="274320" y="1600200"/>
                </a:lnTo>
                <a:lnTo>
                  <a:pt x="0" y="1325880"/>
                </a:lnTo>
                <a:lnTo>
                  <a:pt x="0" y="274320"/>
                </a:lnTo>
                <a:close/>
              </a:path>
            </a:pathLst>
          </a:custGeom>
          <a:solidFill>
            <a:srgbClr val="4C7DF0"/>
          </a:solidFill>
          <a:ln/>
        </p:spPr>
      </p:sp>
      <p:sp>
        <p:nvSpPr>
          <p:cNvPr id="77" name="Text 75"/>
          <p:cNvSpPr/>
          <p:nvPr/>
        </p:nvSpPr>
        <p:spPr>
          <a:xfrm>
            <a:off x="9738360" y="288036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窓口が</a:t>
            </a:r>
            <a:endParaRPr lang="en-US" sz="2400" dirty="0">
              <a:latin typeface="Noto Sans CJK JP"/>
              <a:ea typeface="Noto Sans CJK JP"/>
              <a:cs typeface="Noto Sans CJK JP"/>
            </a:endParaRPr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統合</a:t>
            </a:r>
            <a:endParaRPr lang="en-US" sz="24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9326880" y="4617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DEEE"/>
                </a:solidFill>
                <a:latin typeface="Noto Sans CJK JP"/>
                <a:ea typeface="Noto Sans CJK JP"/>
                <a:cs typeface="Noto Sans CJK JP"/>
              </a:rPr>
              <a:t>結論・論点・次の一手に</a:t>
            </a:r>
            <a:endParaRPr lang="en-US" sz="1500" dirty="0">
              <a:latin typeface="Noto Sans CJK JP"/>
              <a:ea typeface="Noto Sans CJK JP"/>
              <a:cs typeface="Noto Sans CJK JP"/>
            </a:endParaRPr>
          </a:p>
          <a:p>
            <a:pPr algn="ctr" indent="0" marL="0">
              <a:buNone/>
            </a:pPr>
            <a:r>
              <a:rPr lang="en-US" sz="1500" dirty="0">
                <a:solidFill>
                  <a:srgbClr val="D6DEEE"/>
                </a:solidFill>
                <a:latin typeface="Noto Sans CJK JP"/>
                <a:ea typeface="Noto Sans CJK JP"/>
                <a:cs typeface="Noto Sans CJK JP"/>
              </a:rPr>
              <a:t>まとめて返す</a:t>
            </a:r>
            <a:endParaRPr lang="en-US" sz="15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777240" y="5440680"/>
            <a:ext cx="10789920" cy="960120"/>
          </a:xfrm>
          <a:custGeom>
            <a:avLst/>
            <a:gdLst/>
            <a:ahLst/>
            <a:cxnLst/>
            <a:rect l="l" t="t" r="r" b="b"/>
            <a:pathLst>
              <a:path w="10789920" h="960120">
                <a:moveTo>
                  <a:pt x="201168" y="0"/>
                </a:moveTo>
                <a:lnTo>
                  <a:pt x="10789920" y="0"/>
                </a:lnTo>
                <a:lnTo>
                  <a:pt x="10789920" y="758952"/>
                </a:lnTo>
                <a:lnTo>
                  <a:pt x="10588752" y="960120"/>
                </a:lnTo>
                <a:lnTo>
                  <a:pt x="0" y="960120"/>
                </a:lnTo>
                <a:lnTo>
                  <a:pt x="0" y="201168"/>
                </a:lnTo>
                <a:close/>
              </a:path>
            </a:pathLst>
          </a:custGeom>
          <a:solidFill>
            <a:srgbClr val="1A2F5E"/>
          </a:solidFill>
          <a:ln w="19050">
            <a:solidFill>
              <a:srgbClr val="2D4C8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143000" y="553212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DEEE"/>
                </a:solidFill>
                <a:latin typeface="Noto Sans CJK JP"/>
                <a:ea typeface="Noto Sans CJK JP"/>
                <a:cs typeface="Noto Sans CJK JP"/>
              </a:rPr>
              <a:t>成果物：作品名とキャッチコピー案、要約と詳しい説明、工夫した点、使い方、2分デモ動画台本、想定質問と答え、提出前チェックリスト</a:t>
            </a:r>
            <a:endParaRPr lang="en-US" sz="1600" dirty="0">
              <a:latin typeface="Noto Sans CJK JP"/>
              <a:ea typeface="Noto Sans CJK JP"/>
              <a:cs typeface="Noto Sans CJK JP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246888"/>
          </a:xfrm>
          <a:prstGeom prst="rect">
            <a:avLst/>
          </a:prstGeom>
          <a:solidFill>
            <a:srgbClr val="1A2F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"/>
            <a:ext cx="12191970" cy="246888"/>
          </a:xfrm>
          <a:prstGeom prst="rect">
            <a:avLst/>
          </a:prstGeom>
          <a:solidFill>
            <a:srgbClr val="1A2F5E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0"/>
            <a:ext cx="12191970" cy="246888"/>
          </a:xfrm>
          <a:prstGeom prst="rect">
            <a:avLst/>
          </a:prstGeom>
          <a:solidFill>
            <a:srgbClr val="1A2F5E">
              <a:alpha val="9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5800"/>
            <a:ext cx="12191970" cy="246888"/>
          </a:xfrm>
          <a:prstGeom prst="rect">
            <a:avLst/>
          </a:prstGeom>
          <a:solidFill>
            <a:srgbClr val="1A2F5E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14400"/>
            <a:ext cx="12191970" cy="246888"/>
          </a:xfrm>
          <a:prstGeom prst="rect">
            <a:avLst/>
          </a:prstGeom>
          <a:solidFill>
            <a:srgbClr val="1A2F5E">
              <a:alpha val="8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143000"/>
            <a:ext cx="12191970" cy="246888"/>
          </a:xfrm>
          <a:prstGeom prst="rect">
            <a:avLst/>
          </a:prstGeom>
          <a:solidFill>
            <a:srgbClr val="1A2F5E">
              <a:alpha val="8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71600"/>
            <a:ext cx="12191970" cy="246888"/>
          </a:xfrm>
          <a:prstGeom prst="rect">
            <a:avLst/>
          </a:prstGeom>
          <a:solidFill>
            <a:srgbClr val="1A2F5E">
              <a:alpha val="7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600200"/>
            <a:ext cx="12191970" cy="246888"/>
          </a:xfrm>
          <a:prstGeom prst="rect">
            <a:avLst/>
          </a:prstGeom>
          <a:solidFill>
            <a:srgbClr val="1A2F5E">
              <a:alpha val="7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8800"/>
            <a:ext cx="12191970" cy="246888"/>
          </a:xfrm>
          <a:prstGeom prst="rect">
            <a:avLst/>
          </a:prstGeom>
          <a:solidFill>
            <a:srgbClr val="1A2F5E">
              <a:alpha val="7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57400"/>
            <a:ext cx="12191970" cy="246888"/>
          </a:xfrm>
          <a:prstGeom prst="rect">
            <a:avLst/>
          </a:prstGeom>
          <a:solidFill>
            <a:srgbClr val="1A2F5E">
              <a:alpha val="6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286000"/>
            <a:ext cx="12191970" cy="246888"/>
          </a:xfrm>
          <a:prstGeom prst="rect">
            <a:avLst/>
          </a:prstGeom>
          <a:solidFill>
            <a:srgbClr val="1A2F5E">
              <a:alpha val="6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14600"/>
            <a:ext cx="12191970" cy="246888"/>
          </a:xfrm>
          <a:prstGeom prst="rect">
            <a:avLst/>
          </a:prstGeom>
          <a:solidFill>
            <a:srgbClr val="1A2F5E">
              <a:alpha val="6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743200"/>
            <a:ext cx="12191970" cy="246888"/>
          </a:xfrm>
          <a:prstGeom prst="rect">
            <a:avLst/>
          </a:prstGeom>
          <a:solidFill>
            <a:srgbClr val="1A2F5E">
              <a:alpha val="59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971800"/>
            <a:ext cx="12191970" cy="246888"/>
          </a:xfrm>
          <a:prstGeom prst="rect">
            <a:avLst/>
          </a:prstGeom>
          <a:solidFill>
            <a:srgbClr val="1A2F5E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3200400"/>
            <a:ext cx="12191970" cy="246888"/>
          </a:xfrm>
          <a:prstGeom prst="rect">
            <a:avLst/>
          </a:prstGeom>
          <a:solidFill>
            <a:srgbClr val="1A2F5E">
              <a:alpha val="5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3429000"/>
            <a:ext cx="12191970" cy="246888"/>
          </a:xfrm>
          <a:prstGeom prst="rect">
            <a:avLst/>
          </a:prstGeom>
          <a:solidFill>
            <a:srgbClr val="1A2F5E">
              <a:alpha val="4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3657600"/>
            <a:ext cx="12191970" cy="246888"/>
          </a:xfrm>
          <a:prstGeom prst="rect">
            <a:avLst/>
          </a:prstGeom>
          <a:solidFill>
            <a:srgbClr val="1A2F5E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3886200"/>
            <a:ext cx="12191970" cy="246888"/>
          </a:xfrm>
          <a:prstGeom prst="rect">
            <a:avLst/>
          </a:prstGeom>
          <a:solidFill>
            <a:srgbClr val="1A2F5E">
              <a:alpha val="41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4114800"/>
            <a:ext cx="12191970" cy="246888"/>
          </a:xfrm>
          <a:prstGeom prst="rect">
            <a:avLst/>
          </a:prstGeom>
          <a:solidFill>
            <a:srgbClr val="1A2F5E">
              <a:alpha val="3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4343400"/>
            <a:ext cx="12191970" cy="246888"/>
          </a:xfrm>
          <a:prstGeom prst="rect">
            <a:avLst/>
          </a:prstGeom>
          <a:solidFill>
            <a:srgbClr val="1A2F5E">
              <a:alpha val="3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572000"/>
            <a:ext cx="12191970" cy="246888"/>
          </a:xfrm>
          <a:prstGeom prst="rect">
            <a:avLst/>
          </a:prstGeom>
          <a:solidFill>
            <a:srgbClr val="1A2F5E">
              <a:alpha val="31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4800600"/>
            <a:ext cx="12191970" cy="246888"/>
          </a:xfrm>
          <a:prstGeom prst="rect">
            <a:avLst/>
          </a:prstGeom>
          <a:solidFill>
            <a:srgbClr val="1A2F5E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5029200"/>
            <a:ext cx="12191970" cy="246888"/>
          </a:xfrm>
          <a:prstGeom prst="rect">
            <a:avLst/>
          </a:prstGeom>
          <a:solidFill>
            <a:srgbClr val="1A2F5E">
              <a:alpha val="2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257800"/>
            <a:ext cx="12191970" cy="246888"/>
          </a:xfrm>
          <a:prstGeom prst="rect">
            <a:avLst/>
          </a:prstGeom>
          <a:solidFill>
            <a:srgbClr val="1A2F5E">
              <a:alpha val="21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5486400"/>
            <a:ext cx="12191970" cy="246888"/>
          </a:xfrm>
          <a:prstGeom prst="rect">
            <a:avLst/>
          </a:prstGeom>
          <a:solidFill>
            <a:srgbClr val="1A2F5E">
              <a:alpha val="17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5715000"/>
            <a:ext cx="12191970" cy="246888"/>
          </a:xfrm>
          <a:prstGeom prst="rect">
            <a:avLst/>
          </a:prstGeom>
          <a:solidFill>
            <a:srgbClr val="1A2F5E">
              <a:alpha val="1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5943600"/>
            <a:ext cx="12191970" cy="246888"/>
          </a:xfrm>
          <a:prstGeom prst="rect">
            <a:avLst/>
          </a:prstGeom>
          <a:solidFill>
            <a:srgbClr val="1A2F5E">
              <a:alpha val="1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6172200"/>
            <a:ext cx="12191970" cy="246888"/>
          </a:xfrm>
          <a:prstGeom prst="rect">
            <a:avLst/>
          </a:prstGeom>
          <a:solidFill>
            <a:srgbClr val="1A2F5E">
              <a:alpha val="7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400800"/>
            <a:ext cx="12191970" cy="246888"/>
          </a:xfrm>
          <a:prstGeom prst="rect">
            <a:avLst/>
          </a:prstGeom>
          <a:solidFill>
            <a:srgbClr val="1A2F5E">
              <a:alpha val="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6629400"/>
            <a:ext cx="12191970" cy="246888"/>
          </a:xfrm>
          <a:prstGeom prst="rect">
            <a:avLst/>
          </a:prstGeom>
          <a:solidFill>
            <a:srgbClr val="1A2F5E">
              <a:alpha val="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73582" y="410566"/>
            <a:ext cx="360365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MBTI BOT HUB</a:t>
            </a:r>
            <a:endParaRPr lang="en-US" sz="11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0" y="868680"/>
            <a:ext cx="229022" cy="1097280"/>
          </a:xfrm>
          <a:prstGeom prst="rect">
            <a:avLst/>
          </a:prstGeom>
          <a:solidFill>
            <a:srgbClr val="4C7DF0">
              <a:alpha val="49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8049" y="868680"/>
            <a:ext cx="229022" cy="1097280"/>
          </a:xfrm>
          <a:prstGeom prst="rect">
            <a:avLst/>
          </a:prstGeom>
          <a:solidFill>
            <a:srgbClr val="4C7DF0">
              <a:alpha val="47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6098" y="868680"/>
            <a:ext cx="229022" cy="1097280"/>
          </a:xfrm>
          <a:prstGeom prst="rect">
            <a:avLst/>
          </a:prstGeom>
          <a:solidFill>
            <a:srgbClr val="4C7DF0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54148" y="868680"/>
            <a:ext cx="229022" cy="1097280"/>
          </a:xfrm>
          <a:prstGeom prst="rect">
            <a:avLst/>
          </a:prstGeom>
          <a:solidFill>
            <a:srgbClr val="4C7DF0">
              <a:alpha val="43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2197" y="868680"/>
            <a:ext cx="229022" cy="1097280"/>
          </a:xfrm>
          <a:prstGeom prst="rect">
            <a:avLst/>
          </a:prstGeom>
          <a:solidFill>
            <a:srgbClr val="4C7DF0">
              <a:alpha val="41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90246" y="868680"/>
            <a:ext cx="229022" cy="1097280"/>
          </a:xfrm>
          <a:prstGeom prst="rect">
            <a:avLst/>
          </a:prstGeom>
          <a:solidFill>
            <a:srgbClr val="4C7DF0">
              <a:alpha val="39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308295" y="868680"/>
            <a:ext cx="229022" cy="1097280"/>
          </a:xfrm>
          <a:prstGeom prst="rect">
            <a:avLst/>
          </a:prstGeom>
          <a:solidFill>
            <a:srgbClr val="4C7DF0">
              <a:alpha val="37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526345" y="868680"/>
            <a:ext cx="229022" cy="1097280"/>
          </a:xfrm>
          <a:prstGeom prst="rect">
            <a:avLst/>
          </a:prstGeom>
          <a:solidFill>
            <a:srgbClr val="4C7DF0">
              <a:alpha val="3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744394" y="868680"/>
            <a:ext cx="229022" cy="1097280"/>
          </a:xfrm>
          <a:prstGeom prst="rect">
            <a:avLst/>
          </a:prstGeom>
          <a:solidFill>
            <a:srgbClr val="4C7DF0">
              <a:alpha val="33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962443" y="868680"/>
            <a:ext cx="229022" cy="1097280"/>
          </a:xfrm>
          <a:prstGeom prst="rect">
            <a:avLst/>
          </a:prstGeom>
          <a:solidFill>
            <a:srgbClr val="4C7DF0">
              <a:alpha val="31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2180492" y="868680"/>
            <a:ext cx="229022" cy="1097280"/>
          </a:xfrm>
          <a:prstGeom prst="rect">
            <a:avLst/>
          </a:prstGeom>
          <a:solidFill>
            <a:srgbClr val="4C7DF0">
              <a:alpha val="29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2398542" y="868680"/>
            <a:ext cx="229022" cy="1097280"/>
          </a:xfrm>
          <a:prstGeom prst="rect">
            <a:avLst/>
          </a:prstGeom>
          <a:solidFill>
            <a:srgbClr val="4C7DF0">
              <a:alpha val="27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616591" y="868680"/>
            <a:ext cx="229022" cy="1097280"/>
          </a:xfrm>
          <a:prstGeom prst="rect">
            <a:avLst/>
          </a:prstGeom>
          <a:solidFill>
            <a:srgbClr val="4C7DF0">
              <a:alpha val="2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2834640" y="868680"/>
            <a:ext cx="229022" cy="1097280"/>
          </a:xfrm>
          <a:prstGeom prst="rect">
            <a:avLst/>
          </a:prstGeom>
          <a:solidFill>
            <a:srgbClr val="4C7DF0">
              <a:alpha val="2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052689" y="868680"/>
            <a:ext cx="229022" cy="1097280"/>
          </a:xfrm>
          <a:prstGeom prst="rect">
            <a:avLst/>
          </a:prstGeom>
          <a:solidFill>
            <a:srgbClr val="4C7DF0">
              <a:alpha val="2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270738" y="868680"/>
            <a:ext cx="229022" cy="1097280"/>
          </a:xfrm>
          <a:prstGeom prst="rect">
            <a:avLst/>
          </a:prstGeom>
          <a:solidFill>
            <a:srgbClr val="4C7DF0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3488788" y="868680"/>
            <a:ext cx="229022" cy="1097280"/>
          </a:xfrm>
          <a:prstGeom prst="rect">
            <a:avLst/>
          </a:prstGeom>
          <a:solidFill>
            <a:srgbClr val="4C7DF0">
              <a:alpha val="1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3706837" y="868680"/>
            <a:ext cx="229022" cy="1097280"/>
          </a:xfrm>
          <a:prstGeom prst="rect">
            <a:avLst/>
          </a:prstGeom>
          <a:solidFill>
            <a:srgbClr val="4C7DF0">
              <a:alpha val="16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3924886" y="868680"/>
            <a:ext cx="229022" cy="1097280"/>
          </a:xfrm>
          <a:prstGeom prst="rect">
            <a:avLst/>
          </a:prstGeom>
          <a:solidFill>
            <a:srgbClr val="4C7DF0">
              <a:alpha val="14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142935" y="868680"/>
            <a:ext cx="229022" cy="1097280"/>
          </a:xfrm>
          <a:prstGeom prst="rect">
            <a:avLst/>
          </a:prstGeom>
          <a:solidFill>
            <a:srgbClr val="4C7DF0">
              <a:alpha val="1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4360985" y="868680"/>
            <a:ext cx="229022" cy="1097280"/>
          </a:xfrm>
          <a:prstGeom prst="rect">
            <a:avLst/>
          </a:prstGeom>
          <a:solidFill>
            <a:srgbClr val="4C7DF0">
              <a:alpha val="1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4579034" y="868680"/>
            <a:ext cx="229022" cy="1097280"/>
          </a:xfrm>
          <a:prstGeom prst="rect">
            <a:avLst/>
          </a:prstGeom>
          <a:solidFill>
            <a:srgbClr val="4C7DF0">
              <a:alpha val="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797083" y="868680"/>
            <a:ext cx="229022" cy="1097280"/>
          </a:xfrm>
          <a:prstGeom prst="rect">
            <a:avLst/>
          </a:prstGeom>
          <a:solidFill>
            <a:srgbClr val="4C7DF0">
              <a:alpha val="6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5015132" y="868680"/>
            <a:ext cx="229022" cy="1097280"/>
          </a:xfrm>
          <a:prstGeom prst="rect">
            <a:avLst/>
          </a:prstGeom>
          <a:solidFill>
            <a:srgbClr val="4C7DF0">
              <a:alpha val="4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5233182" y="868680"/>
            <a:ext cx="229022" cy="1097280"/>
          </a:xfrm>
          <a:prstGeom prst="rect">
            <a:avLst/>
          </a:prstGeom>
          <a:solidFill>
            <a:srgbClr val="4C7DF0">
              <a:alpha val="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451231" y="868680"/>
            <a:ext cx="229022" cy="1097280"/>
          </a:xfrm>
          <a:prstGeom prst="rect">
            <a:avLst/>
          </a:prstGeom>
          <a:solidFill>
            <a:srgbClr val="4C7DF0">
              <a:alpha val="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773582" y="10972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設計の工夫：MBTIを「役割仕様」として使う</a:t>
            </a:r>
            <a:endParaRPr lang="en-US" sz="32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0" name="Shape 58"/>
          <p:cNvSpPr/>
          <p:nvPr/>
        </p:nvSpPr>
        <p:spPr>
          <a:xfrm rot="5400000">
            <a:off x="323972" y="1347615"/>
            <a:ext cx="247647" cy="160441"/>
          </a:xfrm>
          <a:prstGeom prst="triangle">
            <a:avLst/>
          </a:prstGeom>
          <a:solidFill>
            <a:srgbClr val="A9BFEA">
              <a:alpha val="33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5400000">
            <a:off x="222199" y="1319150"/>
            <a:ext cx="339242" cy="219959"/>
          </a:xfrm>
          <a:prstGeom prst="triangle">
            <a:avLst/>
          </a:prstGeom>
          <a:solidFill>
            <a:srgbClr val="4C7DF0"/>
          </a:solidFill>
          <a:ln/>
        </p:spPr>
      </p:sp>
      <p:sp>
        <p:nvSpPr>
          <p:cNvPr id="62" name="Shape 60"/>
          <p:cNvSpPr/>
          <p:nvPr/>
        </p:nvSpPr>
        <p:spPr>
          <a:xfrm>
            <a:off x="777240" y="224028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128016" y="0"/>
                </a:moveTo>
                <a:lnTo>
                  <a:pt x="512064" y="0"/>
                </a:lnTo>
                <a:lnTo>
                  <a:pt x="640080" y="128016"/>
                </a:lnTo>
                <a:lnTo>
                  <a:pt x="640080" y="512064"/>
                </a:lnTo>
                <a:lnTo>
                  <a:pt x="512064" y="640080"/>
                </a:lnTo>
                <a:lnTo>
                  <a:pt x="128016" y="640080"/>
                </a:lnTo>
                <a:lnTo>
                  <a:pt x="0" y="512064"/>
                </a:lnTo>
                <a:lnTo>
                  <a:pt x="0" y="128016"/>
                </a:lnTo>
                <a:close/>
              </a:path>
            </a:pathLst>
          </a:custGeom>
          <a:solidFill>
            <a:srgbClr val="1F3A75"/>
          </a:solidFill>
          <a:ln w="12700">
            <a:solidFill>
              <a:srgbClr val="4C7D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72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</a:t>
            </a:r>
            <a:endParaRPr lang="en-US" sz="22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1691640" y="22402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役割と「やらないこと」の仕様化</a:t>
            </a:r>
            <a:endParaRPr lang="en-US" sz="19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5715000" y="22402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6DEEE"/>
                </a:solidFill>
                <a:latin typeface="Noto Sans CJK JP"/>
                <a:ea typeface="Noto Sans CJK JP"/>
                <a:cs typeface="Noto Sans CJK JP"/>
              </a:rPr>
              <a:t>MBTIを性格判定ではなく「唯一の仕事／やらないこと」つきの役割仕様に変換</a:t>
            </a:r>
            <a:endParaRPr lang="en-US" sz="15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1691640" y="2990088"/>
            <a:ext cx="9875520" cy="0"/>
          </a:xfrm>
          <a:prstGeom prst="line">
            <a:avLst/>
          </a:prstGeom>
          <a:noFill/>
          <a:ln w="9525">
            <a:solidFill>
              <a:srgbClr val="2D4C8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77240" y="310896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128016" y="0"/>
                </a:moveTo>
                <a:lnTo>
                  <a:pt x="512064" y="0"/>
                </a:lnTo>
                <a:lnTo>
                  <a:pt x="640080" y="128016"/>
                </a:lnTo>
                <a:lnTo>
                  <a:pt x="640080" y="512064"/>
                </a:lnTo>
                <a:lnTo>
                  <a:pt x="512064" y="640080"/>
                </a:lnTo>
                <a:lnTo>
                  <a:pt x="128016" y="640080"/>
                </a:lnTo>
                <a:lnTo>
                  <a:pt x="0" y="512064"/>
                </a:lnTo>
                <a:lnTo>
                  <a:pt x="0" y="128016"/>
                </a:lnTo>
                <a:close/>
              </a:path>
            </a:pathLst>
          </a:custGeom>
          <a:solidFill>
            <a:srgbClr val="1F3A75"/>
          </a:solidFill>
          <a:ln w="12700">
            <a:solidFill>
              <a:srgbClr val="4C7D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72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</a:t>
            </a:r>
            <a:endParaRPr lang="en-US" sz="22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1691640" y="3108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ボット分離で本気の反論</a:t>
            </a:r>
            <a:endParaRPr lang="en-US" sz="19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5715000" y="31089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6DEEE"/>
                </a:solidFill>
                <a:latin typeface="Noto Sans CJK JP"/>
                <a:ea typeface="Noto Sans CJK JP"/>
                <a:cs typeface="Noto Sans CJK JP"/>
              </a:rPr>
              <a:t>記憶と指示が独立するので、反論役は本気で反論し、実務役は発想を広げない</a:t>
            </a:r>
            <a:endParaRPr lang="en-US" sz="15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691640" y="3858768"/>
            <a:ext cx="9875520" cy="0"/>
          </a:xfrm>
          <a:prstGeom prst="line">
            <a:avLst/>
          </a:prstGeom>
          <a:noFill/>
          <a:ln w="9525">
            <a:solidFill>
              <a:srgbClr val="2D4C8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397764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128016" y="0"/>
                </a:moveTo>
                <a:lnTo>
                  <a:pt x="512064" y="0"/>
                </a:lnTo>
                <a:lnTo>
                  <a:pt x="640080" y="128016"/>
                </a:lnTo>
                <a:lnTo>
                  <a:pt x="640080" y="512064"/>
                </a:lnTo>
                <a:lnTo>
                  <a:pt x="512064" y="640080"/>
                </a:lnTo>
                <a:lnTo>
                  <a:pt x="128016" y="640080"/>
                </a:lnTo>
                <a:lnTo>
                  <a:pt x="0" y="512064"/>
                </a:lnTo>
                <a:lnTo>
                  <a:pt x="0" y="128016"/>
                </a:lnTo>
                <a:close/>
              </a:path>
            </a:pathLst>
          </a:custGeom>
          <a:solidFill>
            <a:srgbClr val="1F3A75"/>
          </a:solidFill>
          <a:ln w="12700">
            <a:solidFill>
              <a:srgbClr val="4C7D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7724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</a:t>
            </a:r>
            <a:endParaRPr lang="en-US" sz="22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1691640" y="3977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境界ルールと「1回だけ応答」</a:t>
            </a:r>
            <a:endParaRPr lang="en-US" sz="19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5715000" y="39776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6DEEE"/>
                </a:solidFill>
                <a:latin typeface="Noto Sans CJK JP"/>
                <a:ea typeface="Noto Sans CJK JP"/>
                <a:cs typeface="Noto Sans CJK JP"/>
              </a:rPr>
              <a:t>新案を広げるのはENFP、既存案の検証はENTP。馴れ合いと無限議論を防ぐ</a:t>
            </a:r>
            <a:endParaRPr lang="en-US" sz="15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1691640" y="4727448"/>
            <a:ext cx="9875520" cy="0"/>
          </a:xfrm>
          <a:prstGeom prst="line">
            <a:avLst/>
          </a:prstGeom>
          <a:noFill/>
          <a:ln w="9525">
            <a:solidFill>
              <a:srgbClr val="2D4C8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77240" y="484632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128016" y="0"/>
                </a:moveTo>
                <a:lnTo>
                  <a:pt x="512064" y="0"/>
                </a:lnTo>
                <a:lnTo>
                  <a:pt x="640080" y="128016"/>
                </a:lnTo>
                <a:lnTo>
                  <a:pt x="640080" y="512064"/>
                </a:lnTo>
                <a:lnTo>
                  <a:pt x="512064" y="640080"/>
                </a:lnTo>
                <a:lnTo>
                  <a:pt x="128016" y="640080"/>
                </a:lnTo>
                <a:lnTo>
                  <a:pt x="0" y="512064"/>
                </a:lnTo>
                <a:lnTo>
                  <a:pt x="0" y="128016"/>
                </a:lnTo>
                <a:close/>
              </a:path>
            </a:pathLst>
          </a:custGeom>
          <a:solidFill>
            <a:srgbClr val="1F3A75"/>
          </a:solidFill>
          <a:ln w="12700">
            <a:solidFill>
              <a:srgbClr val="4C7D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7724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</a:t>
            </a:r>
            <a:endParaRPr lang="en-US" sz="22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1691640" y="4846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同タイプ除外のルール化</a:t>
            </a:r>
            <a:endParaRPr lang="en-US" sz="19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5715000" y="48463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6DEEE"/>
                </a:solidFill>
                <a:latin typeface="Noto Sans CJK JP"/>
                <a:ea typeface="Noto Sans CJK JP"/>
                <a:cs typeface="Noto Sans CJK JP"/>
              </a:rPr>
              <a:t>初回に本人と同タイプを入れた誤りから「本人と同タイプは入れない」を明文化</a:t>
            </a:r>
            <a:endParaRPr lang="en-US" sz="15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1691640" y="5596128"/>
            <a:ext cx="9875520" cy="0"/>
          </a:xfrm>
          <a:prstGeom prst="line">
            <a:avLst/>
          </a:prstGeom>
          <a:noFill/>
          <a:ln w="9525">
            <a:solidFill>
              <a:srgbClr val="2D4C8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77240" y="571500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128016" y="0"/>
                </a:moveTo>
                <a:lnTo>
                  <a:pt x="512064" y="0"/>
                </a:lnTo>
                <a:lnTo>
                  <a:pt x="640080" y="128016"/>
                </a:lnTo>
                <a:lnTo>
                  <a:pt x="640080" y="512064"/>
                </a:lnTo>
                <a:lnTo>
                  <a:pt x="512064" y="640080"/>
                </a:lnTo>
                <a:lnTo>
                  <a:pt x="128016" y="640080"/>
                </a:lnTo>
                <a:lnTo>
                  <a:pt x="0" y="512064"/>
                </a:lnTo>
                <a:lnTo>
                  <a:pt x="0" y="128016"/>
                </a:lnTo>
                <a:close/>
              </a:path>
            </a:pathLst>
          </a:custGeom>
          <a:solidFill>
            <a:srgbClr val="1F3A75"/>
          </a:solidFill>
          <a:ln w="12700">
            <a:solidFill>
              <a:srgbClr val="4C7D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77240" y="5715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</a:t>
            </a:r>
            <a:endParaRPr lang="en-US" sz="22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1691640" y="57150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窓口は作業せず中継に徹する</a:t>
            </a:r>
            <a:endParaRPr lang="en-US" sz="19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5715000" y="57150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6DEEE"/>
                </a:solidFill>
                <a:latin typeface="Noto Sans CJK JP"/>
                <a:ea typeface="Noto Sans CJK JP"/>
                <a:cs typeface="Noto Sans CJK JP"/>
              </a:rPr>
              <a:t>命令も判定もしない。依頼を渡し、返答をまとめて返すだけ</a:t>
            </a:r>
            <a:endParaRPr lang="en-US" sz="1500" dirty="0">
              <a:latin typeface="Noto Sans CJK JP"/>
              <a:ea typeface="Noto Sans CJK JP"/>
              <a:cs typeface="Noto Sans CJK JP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246888"/>
          </a:xfrm>
          <a:prstGeom prst="rect">
            <a:avLst/>
          </a:prstGeom>
          <a:solidFill>
            <a:srgbClr val="1A2F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"/>
            <a:ext cx="12191970" cy="246888"/>
          </a:xfrm>
          <a:prstGeom prst="rect">
            <a:avLst/>
          </a:prstGeom>
          <a:solidFill>
            <a:srgbClr val="1A2F5E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0"/>
            <a:ext cx="12191970" cy="246888"/>
          </a:xfrm>
          <a:prstGeom prst="rect">
            <a:avLst/>
          </a:prstGeom>
          <a:solidFill>
            <a:srgbClr val="1A2F5E">
              <a:alpha val="9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5800"/>
            <a:ext cx="12191970" cy="246888"/>
          </a:xfrm>
          <a:prstGeom prst="rect">
            <a:avLst/>
          </a:prstGeom>
          <a:solidFill>
            <a:srgbClr val="1A2F5E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14400"/>
            <a:ext cx="12191970" cy="246888"/>
          </a:xfrm>
          <a:prstGeom prst="rect">
            <a:avLst/>
          </a:prstGeom>
          <a:solidFill>
            <a:srgbClr val="1A2F5E">
              <a:alpha val="8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143000"/>
            <a:ext cx="12191970" cy="246888"/>
          </a:xfrm>
          <a:prstGeom prst="rect">
            <a:avLst/>
          </a:prstGeom>
          <a:solidFill>
            <a:srgbClr val="1A2F5E">
              <a:alpha val="8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71600"/>
            <a:ext cx="12191970" cy="246888"/>
          </a:xfrm>
          <a:prstGeom prst="rect">
            <a:avLst/>
          </a:prstGeom>
          <a:solidFill>
            <a:srgbClr val="1A2F5E">
              <a:alpha val="7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600200"/>
            <a:ext cx="12191970" cy="246888"/>
          </a:xfrm>
          <a:prstGeom prst="rect">
            <a:avLst/>
          </a:prstGeom>
          <a:solidFill>
            <a:srgbClr val="1A2F5E">
              <a:alpha val="7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8800"/>
            <a:ext cx="12191970" cy="246888"/>
          </a:xfrm>
          <a:prstGeom prst="rect">
            <a:avLst/>
          </a:prstGeom>
          <a:solidFill>
            <a:srgbClr val="1A2F5E">
              <a:alpha val="7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57400"/>
            <a:ext cx="12191970" cy="246888"/>
          </a:xfrm>
          <a:prstGeom prst="rect">
            <a:avLst/>
          </a:prstGeom>
          <a:solidFill>
            <a:srgbClr val="1A2F5E">
              <a:alpha val="6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286000"/>
            <a:ext cx="12191970" cy="246888"/>
          </a:xfrm>
          <a:prstGeom prst="rect">
            <a:avLst/>
          </a:prstGeom>
          <a:solidFill>
            <a:srgbClr val="1A2F5E">
              <a:alpha val="6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14600"/>
            <a:ext cx="12191970" cy="246888"/>
          </a:xfrm>
          <a:prstGeom prst="rect">
            <a:avLst/>
          </a:prstGeom>
          <a:solidFill>
            <a:srgbClr val="1A2F5E">
              <a:alpha val="6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743200"/>
            <a:ext cx="12191970" cy="246888"/>
          </a:xfrm>
          <a:prstGeom prst="rect">
            <a:avLst/>
          </a:prstGeom>
          <a:solidFill>
            <a:srgbClr val="1A2F5E">
              <a:alpha val="59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971800"/>
            <a:ext cx="12191970" cy="246888"/>
          </a:xfrm>
          <a:prstGeom prst="rect">
            <a:avLst/>
          </a:prstGeom>
          <a:solidFill>
            <a:srgbClr val="1A2F5E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3200400"/>
            <a:ext cx="12191970" cy="246888"/>
          </a:xfrm>
          <a:prstGeom prst="rect">
            <a:avLst/>
          </a:prstGeom>
          <a:solidFill>
            <a:srgbClr val="1A2F5E">
              <a:alpha val="5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3429000"/>
            <a:ext cx="12191970" cy="246888"/>
          </a:xfrm>
          <a:prstGeom prst="rect">
            <a:avLst/>
          </a:prstGeom>
          <a:solidFill>
            <a:srgbClr val="1A2F5E">
              <a:alpha val="4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3657600"/>
            <a:ext cx="12191970" cy="246888"/>
          </a:xfrm>
          <a:prstGeom prst="rect">
            <a:avLst/>
          </a:prstGeom>
          <a:solidFill>
            <a:srgbClr val="1A2F5E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3886200"/>
            <a:ext cx="12191970" cy="246888"/>
          </a:xfrm>
          <a:prstGeom prst="rect">
            <a:avLst/>
          </a:prstGeom>
          <a:solidFill>
            <a:srgbClr val="1A2F5E">
              <a:alpha val="41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4114800"/>
            <a:ext cx="12191970" cy="246888"/>
          </a:xfrm>
          <a:prstGeom prst="rect">
            <a:avLst/>
          </a:prstGeom>
          <a:solidFill>
            <a:srgbClr val="1A2F5E">
              <a:alpha val="3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4343400"/>
            <a:ext cx="12191970" cy="246888"/>
          </a:xfrm>
          <a:prstGeom prst="rect">
            <a:avLst/>
          </a:prstGeom>
          <a:solidFill>
            <a:srgbClr val="1A2F5E">
              <a:alpha val="3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572000"/>
            <a:ext cx="12191970" cy="246888"/>
          </a:xfrm>
          <a:prstGeom prst="rect">
            <a:avLst/>
          </a:prstGeom>
          <a:solidFill>
            <a:srgbClr val="1A2F5E">
              <a:alpha val="31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4800600"/>
            <a:ext cx="12191970" cy="246888"/>
          </a:xfrm>
          <a:prstGeom prst="rect">
            <a:avLst/>
          </a:prstGeom>
          <a:solidFill>
            <a:srgbClr val="1A2F5E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5029200"/>
            <a:ext cx="12191970" cy="246888"/>
          </a:xfrm>
          <a:prstGeom prst="rect">
            <a:avLst/>
          </a:prstGeom>
          <a:solidFill>
            <a:srgbClr val="1A2F5E">
              <a:alpha val="2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257800"/>
            <a:ext cx="12191970" cy="246888"/>
          </a:xfrm>
          <a:prstGeom prst="rect">
            <a:avLst/>
          </a:prstGeom>
          <a:solidFill>
            <a:srgbClr val="1A2F5E">
              <a:alpha val="21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5486400"/>
            <a:ext cx="12191970" cy="246888"/>
          </a:xfrm>
          <a:prstGeom prst="rect">
            <a:avLst/>
          </a:prstGeom>
          <a:solidFill>
            <a:srgbClr val="1A2F5E">
              <a:alpha val="17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5715000"/>
            <a:ext cx="12191970" cy="246888"/>
          </a:xfrm>
          <a:prstGeom prst="rect">
            <a:avLst/>
          </a:prstGeom>
          <a:solidFill>
            <a:srgbClr val="1A2F5E">
              <a:alpha val="1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5943600"/>
            <a:ext cx="12191970" cy="246888"/>
          </a:xfrm>
          <a:prstGeom prst="rect">
            <a:avLst/>
          </a:prstGeom>
          <a:solidFill>
            <a:srgbClr val="1A2F5E">
              <a:alpha val="1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6172200"/>
            <a:ext cx="12191970" cy="246888"/>
          </a:xfrm>
          <a:prstGeom prst="rect">
            <a:avLst/>
          </a:prstGeom>
          <a:solidFill>
            <a:srgbClr val="1A2F5E">
              <a:alpha val="7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400800"/>
            <a:ext cx="12191970" cy="246888"/>
          </a:xfrm>
          <a:prstGeom prst="rect">
            <a:avLst/>
          </a:prstGeom>
          <a:solidFill>
            <a:srgbClr val="1A2F5E">
              <a:alpha val="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6629400"/>
            <a:ext cx="12191970" cy="246888"/>
          </a:xfrm>
          <a:prstGeom prst="rect">
            <a:avLst/>
          </a:prstGeom>
          <a:solidFill>
            <a:srgbClr val="1A2F5E">
              <a:alpha val="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73582" y="410566"/>
            <a:ext cx="360365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MBTI BOT HUB</a:t>
            </a:r>
            <a:endParaRPr lang="en-US" sz="11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0" y="868680"/>
            <a:ext cx="229022" cy="1097280"/>
          </a:xfrm>
          <a:prstGeom prst="rect">
            <a:avLst/>
          </a:prstGeom>
          <a:solidFill>
            <a:srgbClr val="4C7DF0">
              <a:alpha val="49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8049" y="868680"/>
            <a:ext cx="229022" cy="1097280"/>
          </a:xfrm>
          <a:prstGeom prst="rect">
            <a:avLst/>
          </a:prstGeom>
          <a:solidFill>
            <a:srgbClr val="4C7DF0">
              <a:alpha val="47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6098" y="868680"/>
            <a:ext cx="229022" cy="1097280"/>
          </a:xfrm>
          <a:prstGeom prst="rect">
            <a:avLst/>
          </a:prstGeom>
          <a:solidFill>
            <a:srgbClr val="4C7DF0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54148" y="868680"/>
            <a:ext cx="229022" cy="1097280"/>
          </a:xfrm>
          <a:prstGeom prst="rect">
            <a:avLst/>
          </a:prstGeom>
          <a:solidFill>
            <a:srgbClr val="4C7DF0">
              <a:alpha val="43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2197" y="868680"/>
            <a:ext cx="229022" cy="1097280"/>
          </a:xfrm>
          <a:prstGeom prst="rect">
            <a:avLst/>
          </a:prstGeom>
          <a:solidFill>
            <a:srgbClr val="4C7DF0">
              <a:alpha val="41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90246" y="868680"/>
            <a:ext cx="229022" cy="1097280"/>
          </a:xfrm>
          <a:prstGeom prst="rect">
            <a:avLst/>
          </a:prstGeom>
          <a:solidFill>
            <a:srgbClr val="4C7DF0">
              <a:alpha val="39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308295" y="868680"/>
            <a:ext cx="229022" cy="1097280"/>
          </a:xfrm>
          <a:prstGeom prst="rect">
            <a:avLst/>
          </a:prstGeom>
          <a:solidFill>
            <a:srgbClr val="4C7DF0">
              <a:alpha val="37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526345" y="868680"/>
            <a:ext cx="229022" cy="1097280"/>
          </a:xfrm>
          <a:prstGeom prst="rect">
            <a:avLst/>
          </a:prstGeom>
          <a:solidFill>
            <a:srgbClr val="4C7DF0">
              <a:alpha val="3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744394" y="868680"/>
            <a:ext cx="229022" cy="1097280"/>
          </a:xfrm>
          <a:prstGeom prst="rect">
            <a:avLst/>
          </a:prstGeom>
          <a:solidFill>
            <a:srgbClr val="4C7DF0">
              <a:alpha val="33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962443" y="868680"/>
            <a:ext cx="229022" cy="1097280"/>
          </a:xfrm>
          <a:prstGeom prst="rect">
            <a:avLst/>
          </a:prstGeom>
          <a:solidFill>
            <a:srgbClr val="4C7DF0">
              <a:alpha val="31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2180492" y="868680"/>
            <a:ext cx="229022" cy="1097280"/>
          </a:xfrm>
          <a:prstGeom prst="rect">
            <a:avLst/>
          </a:prstGeom>
          <a:solidFill>
            <a:srgbClr val="4C7DF0">
              <a:alpha val="29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2398542" y="868680"/>
            <a:ext cx="229022" cy="1097280"/>
          </a:xfrm>
          <a:prstGeom prst="rect">
            <a:avLst/>
          </a:prstGeom>
          <a:solidFill>
            <a:srgbClr val="4C7DF0">
              <a:alpha val="27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616591" y="868680"/>
            <a:ext cx="229022" cy="1097280"/>
          </a:xfrm>
          <a:prstGeom prst="rect">
            <a:avLst/>
          </a:prstGeom>
          <a:solidFill>
            <a:srgbClr val="4C7DF0">
              <a:alpha val="2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2834640" y="868680"/>
            <a:ext cx="229022" cy="1097280"/>
          </a:xfrm>
          <a:prstGeom prst="rect">
            <a:avLst/>
          </a:prstGeom>
          <a:solidFill>
            <a:srgbClr val="4C7DF0">
              <a:alpha val="2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052689" y="868680"/>
            <a:ext cx="229022" cy="1097280"/>
          </a:xfrm>
          <a:prstGeom prst="rect">
            <a:avLst/>
          </a:prstGeom>
          <a:solidFill>
            <a:srgbClr val="4C7DF0">
              <a:alpha val="2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270738" y="868680"/>
            <a:ext cx="229022" cy="1097280"/>
          </a:xfrm>
          <a:prstGeom prst="rect">
            <a:avLst/>
          </a:prstGeom>
          <a:solidFill>
            <a:srgbClr val="4C7DF0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3488788" y="868680"/>
            <a:ext cx="229022" cy="1097280"/>
          </a:xfrm>
          <a:prstGeom prst="rect">
            <a:avLst/>
          </a:prstGeom>
          <a:solidFill>
            <a:srgbClr val="4C7DF0">
              <a:alpha val="1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3706837" y="868680"/>
            <a:ext cx="229022" cy="1097280"/>
          </a:xfrm>
          <a:prstGeom prst="rect">
            <a:avLst/>
          </a:prstGeom>
          <a:solidFill>
            <a:srgbClr val="4C7DF0">
              <a:alpha val="16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3924886" y="868680"/>
            <a:ext cx="229022" cy="1097280"/>
          </a:xfrm>
          <a:prstGeom prst="rect">
            <a:avLst/>
          </a:prstGeom>
          <a:solidFill>
            <a:srgbClr val="4C7DF0">
              <a:alpha val="14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142935" y="868680"/>
            <a:ext cx="229022" cy="1097280"/>
          </a:xfrm>
          <a:prstGeom prst="rect">
            <a:avLst/>
          </a:prstGeom>
          <a:solidFill>
            <a:srgbClr val="4C7DF0">
              <a:alpha val="1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4360985" y="868680"/>
            <a:ext cx="229022" cy="1097280"/>
          </a:xfrm>
          <a:prstGeom prst="rect">
            <a:avLst/>
          </a:prstGeom>
          <a:solidFill>
            <a:srgbClr val="4C7DF0">
              <a:alpha val="1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4579034" y="868680"/>
            <a:ext cx="229022" cy="1097280"/>
          </a:xfrm>
          <a:prstGeom prst="rect">
            <a:avLst/>
          </a:prstGeom>
          <a:solidFill>
            <a:srgbClr val="4C7DF0">
              <a:alpha val="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797083" y="868680"/>
            <a:ext cx="229022" cy="1097280"/>
          </a:xfrm>
          <a:prstGeom prst="rect">
            <a:avLst/>
          </a:prstGeom>
          <a:solidFill>
            <a:srgbClr val="4C7DF0">
              <a:alpha val="6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5015132" y="868680"/>
            <a:ext cx="229022" cy="1097280"/>
          </a:xfrm>
          <a:prstGeom prst="rect">
            <a:avLst/>
          </a:prstGeom>
          <a:solidFill>
            <a:srgbClr val="4C7DF0">
              <a:alpha val="4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5233182" y="868680"/>
            <a:ext cx="229022" cy="1097280"/>
          </a:xfrm>
          <a:prstGeom prst="rect">
            <a:avLst/>
          </a:prstGeom>
          <a:solidFill>
            <a:srgbClr val="4C7DF0">
              <a:alpha val="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451231" y="868680"/>
            <a:ext cx="229022" cy="1097280"/>
          </a:xfrm>
          <a:prstGeom prst="rect">
            <a:avLst/>
          </a:prstGeom>
          <a:solidFill>
            <a:srgbClr val="4C7DF0">
              <a:alpha val="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773582" y="10972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ハブを軸に、どのタイプでも使えるテンプレートへ</a:t>
            </a:r>
            <a:endParaRPr lang="en-US" sz="32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0" name="Shape 58"/>
          <p:cNvSpPr/>
          <p:nvPr/>
        </p:nvSpPr>
        <p:spPr>
          <a:xfrm rot="5400000">
            <a:off x="323972" y="1347615"/>
            <a:ext cx="247647" cy="160441"/>
          </a:xfrm>
          <a:prstGeom prst="triangle">
            <a:avLst/>
          </a:prstGeom>
          <a:solidFill>
            <a:srgbClr val="A9BFEA">
              <a:alpha val="33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5400000">
            <a:off x="222199" y="1319150"/>
            <a:ext cx="339242" cy="219959"/>
          </a:xfrm>
          <a:prstGeom prst="triangle">
            <a:avLst/>
          </a:prstGeom>
          <a:solidFill>
            <a:srgbClr val="4C7DF0"/>
          </a:solidFill>
          <a:ln/>
        </p:spPr>
      </p:sp>
      <p:sp>
        <p:nvSpPr>
          <p:cNvPr id="62" name="Shape 60"/>
          <p:cNvSpPr/>
          <p:nvPr/>
        </p:nvSpPr>
        <p:spPr>
          <a:xfrm>
            <a:off x="777240" y="2240280"/>
            <a:ext cx="2560320" cy="1325880"/>
          </a:xfrm>
          <a:custGeom>
            <a:avLst/>
            <a:gdLst/>
            <a:ahLst/>
            <a:cxnLst/>
            <a:rect l="l" t="t" r="r" b="b"/>
            <a:pathLst>
              <a:path w="2560320" h="1325880">
                <a:moveTo>
                  <a:pt x="201168" y="0"/>
                </a:moveTo>
                <a:lnTo>
                  <a:pt x="2560320" y="0"/>
                </a:lnTo>
                <a:lnTo>
                  <a:pt x="2560320" y="1124712"/>
                </a:lnTo>
                <a:lnTo>
                  <a:pt x="2359152" y="1325880"/>
                </a:lnTo>
                <a:lnTo>
                  <a:pt x="0" y="1325880"/>
                </a:lnTo>
                <a:lnTo>
                  <a:pt x="0" y="201168"/>
                </a:lnTo>
                <a:close/>
              </a:path>
            </a:pathLst>
          </a:custGeom>
          <a:solidFill>
            <a:srgbClr val="1A2F5E"/>
          </a:solidFill>
          <a:ln w="19050">
            <a:solidFill>
              <a:srgbClr val="4C7D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5156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C7DF0"/>
                </a:solidFill>
                <a:latin typeface="Noto Sans CJK JP"/>
                <a:ea typeface="Noto Sans CJK JP"/>
                <a:cs typeface="Noto Sans CJK JP"/>
              </a:rPr>
              <a:t>STEP 1</a:t>
            </a:r>
            <a:endParaRPr lang="en-US" sz="14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100584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MBTIを聞く</a:t>
            </a:r>
            <a:endParaRPr lang="en-US" sz="16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3566160" y="2240280"/>
            <a:ext cx="2560320" cy="1325880"/>
          </a:xfrm>
          <a:custGeom>
            <a:avLst/>
            <a:gdLst/>
            <a:ahLst/>
            <a:cxnLst/>
            <a:rect l="l" t="t" r="r" b="b"/>
            <a:pathLst>
              <a:path w="2560320" h="1325880">
                <a:moveTo>
                  <a:pt x="201168" y="0"/>
                </a:moveTo>
                <a:lnTo>
                  <a:pt x="2560320" y="0"/>
                </a:lnTo>
                <a:lnTo>
                  <a:pt x="2560320" y="1124712"/>
                </a:lnTo>
                <a:lnTo>
                  <a:pt x="2359152" y="1325880"/>
                </a:lnTo>
                <a:lnTo>
                  <a:pt x="0" y="1325880"/>
                </a:lnTo>
                <a:lnTo>
                  <a:pt x="0" y="201168"/>
                </a:lnTo>
                <a:close/>
              </a:path>
            </a:pathLst>
          </a:custGeom>
          <a:solidFill>
            <a:srgbClr val="1A2F5E"/>
          </a:solidFill>
          <a:ln w="19050">
            <a:solidFill>
              <a:srgbClr val="4C7D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4048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C7DF0"/>
                </a:solidFill>
                <a:latin typeface="Noto Sans CJK JP"/>
                <a:ea typeface="Noto Sans CJK JP"/>
                <a:cs typeface="Noto Sans CJK JP"/>
              </a:rPr>
              <a:t>STEP 2</a:t>
            </a:r>
            <a:endParaRPr lang="en-US" sz="14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379476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16タイプ表と推奨チーム表</a:t>
            </a:r>
            <a:endParaRPr lang="en-US" sz="1400" dirty="0">
              <a:latin typeface="Noto Sans CJK JP"/>
              <a:ea typeface="Noto Sans CJK JP"/>
              <a:cs typeface="Noto Sans CJK JP"/>
            </a:endParaRPr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から4体を自動作成</a:t>
            </a:r>
            <a:endParaRPr lang="en-US" sz="14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6355080" y="2240280"/>
            <a:ext cx="2560320" cy="1325880"/>
          </a:xfrm>
          <a:custGeom>
            <a:avLst/>
            <a:gdLst/>
            <a:ahLst/>
            <a:cxnLst/>
            <a:rect l="l" t="t" r="r" b="b"/>
            <a:pathLst>
              <a:path w="2560320" h="1325880">
                <a:moveTo>
                  <a:pt x="201168" y="0"/>
                </a:moveTo>
                <a:lnTo>
                  <a:pt x="2560320" y="0"/>
                </a:lnTo>
                <a:lnTo>
                  <a:pt x="2560320" y="1124712"/>
                </a:lnTo>
                <a:lnTo>
                  <a:pt x="2359152" y="1325880"/>
                </a:lnTo>
                <a:lnTo>
                  <a:pt x="0" y="1325880"/>
                </a:lnTo>
                <a:lnTo>
                  <a:pt x="0" y="201168"/>
                </a:lnTo>
                <a:close/>
              </a:path>
            </a:pathLst>
          </a:custGeom>
          <a:solidFill>
            <a:srgbClr val="1A2F5E"/>
          </a:solidFill>
          <a:ln w="19050">
            <a:solidFill>
              <a:srgbClr val="4C7D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2940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C7DF0"/>
                </a:solidFill>
                <a:latin typeface="Noto Sans CJK JP"/>
                <a:ea typeface="Noto Sans CJK JP"/>
                <a:cs typeface="Noto Sans CJK JP"/>
              </a:rPr>
              <a:t>STEP 3</a:t>
            </a:r>
            <a:endParaRPr lang="en-US" sz="14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658368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窓口が分担メモを書く</a:t>
            </a:r>
            <a:endParaRPr lang="en-US" sz="16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9144000" y="2240280"/>
            <a:ext cx="2560320" cy="1325880"/>
          </a:xfrm>
          <a:custGeom>
            <a:avLst/>
            <a:gdLst/>
            <a:ahLst/>
            <a:cxnLst/>
            <a:rect l="l" t="t" r="r" b="b"/>
            <a:pathLst>
              <a:path w="2560320" h="1325880">
                <a:moveTo>
                  <a:pt x="201168" y="0"/>
                </a:moveTo>
                <a:lnTo>
                  <a:pt x="2560320" y="0"/>
                </a:lnTo>
                <a:lnTo>
                  <a:pt x="2560320" y="1124712"/>
                </a:lnTo>
                <a:lnTo>
                  <a:pt x="2359152" y="1325880"/>
                </a:lnTo>
                <a:lnTo>
                  <a:pt x="0" y="1325880"/>
                </a:lnTo>
                <a:lnTo>
                  <a:pt x="0" y="201168"/>
                </a:lnTo>
                <a:close/>
              </a:path>
            </a:pathLst>
          </a:custGeom>
          <a:solidFill>
            <a:srgbClr val="1A2F5E"/>
          </a:solidFill>
          <a:ln w="19050">
            <a:solidFill>
              <a:srgbClr val="4C7D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41832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C7DF0"/>
                </a:solidFill>
                <a:latin typeface="Noto Sans CJK JP"/>
                <a:ea typeface="Noto Sans CJK JP"/>
                <a:cs typeface="Noto Sans CJK JP"/>
              </a:rPr>
              <a:t>STEP 4</a:t>
            </a:r>
            <a:endParaRPr lang="en-US" sz="14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937260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課題を中継し、まとめて返す</a:t>
            </a:r>
            <a:endParaRPr lang="en-US" sz="1600" dirty="0">
              <a:latin typeface="Noto Sans CJK JP"/>
              <a:ea typeface="Noto Sans CJK JP"/>
              <a:cs typeface="Noto Sans CJK JP"/>
            </a:endParaRPr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931920"/>
          <a:ext cx="106527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240280"/>
                <a:gridCol w="2240280"/>
                <a:gridCol w="2240280"/>
                <a:gridCol w="22402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A9BFE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本人</a:t>
                      </a:r>
                      <a:endParaRPr lang="en-US" sz="1700" dirty="0">
                        <a:latin typeface="Noto Sans CJK JP"/>
                        <a:ea typeface="Noto Sans CJK JP"/>
                        <a:cs typeface="Noto Sans CJK JP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8142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分析家</a:t>
                      </a:r>
                      <a:endParaRPr lang="en-US" sz="1700" dirty="0">
                        <a:latin typeface="Noto Sans CJK JP"/>
                        <a:ea typeface="Noto Sans CJK JP"/>
                        <a:cs typeface="Noto Sans CJK JP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7B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8142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外交官</a:t>
                      </a:r>
                      <a:endParaRPr lang="en-US" sz="1700" dirty="0">
                        <a:latin typeface="Noto Sans CJK JP"/>
                        <a:ea typeface="Noto Sans CJK JP"/>
                        <a:cs typeface="Noto Sans CJK JP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C4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8142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番人</a:t>
                      </a:r>
                      <a:endParaRPr lang="en-US" sz="1700" dirty="0">
                        <a:latin typeface="Noto Sans CJK JP"/>
                        <a:ea typeface="Noto Sans CJK JP"/>
                        <a:cs typeface="Noto Sans CJK JP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8142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探検家</a:t>
                      </a:r>
                      <a:endParaRPr lang="en-US" sz="1700" dirty="0">
                        <a:latin typeface="Noto Sans CJK JP"/>
                        <a:ea typeface="Noto Sans CJK JP"/>
                        <a:cs typeface="Noto Sans CJK JP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4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INTJ</a:t>
                      </a:r>
                      <a:endParaRPr lang="en-US" sz="1700" dirty="0">
                        <a:latin typeface="Noto Sans CJK JP"/>
                        <a:ea typeface="Noto Sans CJK JP"/>
                        <a:cs typeface="Noto Sans CJK JP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ENTP</a:t>
                      </a:r>
                      <a:endParaRPr lang="en-US" sz="1700" dirty="0">
                        <a:latin typeface="Noto Sans CJK JP"/>
                        <a:ea typeface="Noto Sans CJK JP"/>
                        <a:cs typeface="Noto Sans CJK JP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ENFP</a:t>
                      </a:r>
                      <a:endParaRPr lang="en-US" sz="1700" dirty="0">
                        <a:latin typeface="Noto Sans CJK JP"/>
                        <a:ea typeface="Noto Sans CJK JP"/>
                        <a:cs typeface="Noto Sans CJK JP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ISTJ</a:t>
                      </a:r>
                      <a:endParaRPr lang="en-US" sz="1700" dirty="0">
                        <a:latin typeface="Noto Sans CJK JP"/>
                        <a:ea typeface="Noto Sans CJK JP"/>
                        <a:cs typeface="Noto Sans CJK JP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ESTP</a:t>
                      </a:r>
                      <a:endParaRPr lang="en-US" sz="1700" dirty="0">
                        <a:latin typeface="Noto Sans CJK JP"/>
                        <a:ea typeface="Noto Sans CJK JP"/>
                        <a:cs typeface="Noto Sans CJK JP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INFP</a:t>
                      </a:r>
                      <a:endParaRPr lang="en-US" sz="1700" dirty="0">
                        <a:latin typeface="Noto Sans CJK JP"/>
                        <a:ea typeface="Noto Sans CJK JP"/>
                        <a:cs typeface="Noto Sans CJK JP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ENTJ</a:t>
                      </a:r>
                      <a:endParaRPr lang="en-US" sz="1700" dirty="0">
                        <a:latin typeface="Noto Sans CJK JP"/>
                        <a:ea typeface="Noto Sans CJK JP"/>
                        <a:cs typeface="Noto Sans CJK JP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ENFJ</a:t>
                      </a:r>
                      <a:endParaRPr lang="en-US" sz="1700" dirty="0">
                        <a:latin typeface="Noto Sans CJK JP"/>
                        <a:ea typeface="Noto Sans CJK JP"/>
                        <a:cs typeface="Noto Sans CJK JP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ISFJ</a:t>
                      </a:r>
                      <a:endParaRPr lang="en-US" sz="1700" dirty="0">
                        <a:latin typeface="Noto Sans CJK JP"/>
                        <a:ea typeface="Noto Sans CJK JP"/>
                        <a:cs typeface="Noto Sans CJK JP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ISFP</a:t>
                      </a:r>
                      <a:endParaRPr lang="en-US" sz="1700" dirty="0">
                        <a:latin typeface="Noto Sans CJK JP"/>
                        <a:ea typeface="Noto Sans CJK JP"/>
                        <a:cs typeface="Noto Sans CJK JP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ESTJ</a:t>
                      </a:r>
                      <a:endParaRPr lang="en-US" sz="1700" dirty="0">
                        <a:latin typeface="Noto Sans CJK JP"/>
                        <a:ea typeface="Noto Sans CJK JP"/>
                        <a:cs typeface="Noto Sans CJK JP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ENTJ</a:t>
                      </a:r>
                      <a:endParaRPr lang="en-US" sz="1700" dirty="0">
                        <a:latin typeface="Noto Sans CJK JP"/>
                        <a:ea typeface="Noto Sans CJK JP"/>
                        <a:cs typeface="Noto Sans CJK JP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ENFJ</a:t>
                      </a:r>
                      <a:endParaRPr lang="en-US" sz="1700" dirty="0">
                        <a:latin typeface="Noto Sans CJK JP"/>
                        <a:ea typeface="Noto Sans CJK JP"/>
                        <a:cs typeface="Noto Sans CJK JP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ISTJ</a:t>
                      </a:r>
                      <a:endParaRPr lang="en-US" sz="1700" dirty="0">
                        <a:latin typeface="Noto Sans CJK JP"/>
                        <a:ea typeface="Noto Sans CJK JP"/>
                        <a:cs typeface="Noto Sans CJK JP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ISFP</a:t>
                      </a:r>
                      <a:endParaRPr lang="en-US" sz="1700" dirty="0">
                        <a:latin typeface="Noto Sans CJK JP"/>
                        <a:ea typeface="Noto Sans CJK JP"/>
                        <a:cs typeface="Noto Sans CJK JP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E"/>
                    </a:solidFill>
                  </a:tcPr>
                </a:tc>
              </a:tr>
            </a:tbl>
          </a:graphicData>
        </a:graphic>
      </p:graphicFrame>
      <p:sp>
        <p:nvSpPr>
          <p:cNvPr id="75" name="Text 72"/>
          <p:cNvSpPr/>
          <p:nvPr/>
        </p:nvSpPr>
        <p:spPr>
          <a:xfrm>
            <a:off x="77724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FEA"/>
                </a:solidFill>
                <a:latin typeface="Noto Sans CJK JP"/>
                <a:ea typeface="Noto Sans CJK JP"/>
                <a:cs typeface="Noto Sans CJK JP"/>
              </a:rPr>
              <a:t>推奨チーム表（skills/mbti-team-spec より抜粋）</a:t>
            </a:r>
            <a:endParaRPr lang="en-US" sz="1400" dirty="0">
              <a:latin typeface="Noto Sans CJK JP"/>
              <a:ea typeface="Noto Sans CJK JP"/>
              <a:cs typeface="Noto Sans CJK JP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246888"/>
          </a:xfrm>
          <a:prstGeom prst="rect">
            <a:avLst/>
          </a:prstGeom>
          <a:solidFill>
            <a:srgbClr val="1A2F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"/>
            <a:ext cx="12191970" cy="246888"/>
          </a:xfrm>
          <a:prstGeom prst="rect">
            <a:avLst/>
          </a:prstGeom>
          <a:solidFill>
            <a:srgbClr val="1A2F5E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0"/>
            <a:ext cx="12191970" cy="246888"/>
          </a:xfrm>
          <a:prstGeom prst="rect">
            <a:avLst/>
          </a:prstGeom>
          <a:solidFill>
            <a:srgbClr val="1A2F5E">
              <a:alpha val="9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5800"/>
            <a:ext cx="12191970" cy="246888"/>
          </a:xfrm>
          <a:prstGeom prst="rect">
            <a:avLst/>
          </a:prstGeom>
          <a:solidFill>
            <a:srgbClr val="1A2F5E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14400"/>
            <a:ext cx="12191970" cy="246888"/>
          </a:xfrm>
          <a:prstGeom prst="rect">
            <a:avLst/>
          </a:prstGeom>
          <a:solidFill>
            <a:srgbClr val="1A2F5E">
              <a:alpha val="8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143000"/>
            <a:ext cx="12191970" cy="246888"/>
          </a:xfrm>
          <a:prstGeom prst="rect">
            <a:avLst/>
          </a:prstGeom>
          <a:solidFill>
            <a:srgbClr val="1A2F5E">
              <a:alpha val="8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71600"/>
            <a:ext cx="12191970" cy="246888"/>
          </a:xfrm>
          <a:prstGeom prst="rect">
            <a:avLst/>
          </a:prstGeom>
          <a:solidFill>
            <a:srgbClr val="1A2F5E">
              <a:alpha val="7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600200"/>
            <a:ext cx="12191970" cy="246888"/>
          </a:xfrm>
          <a:prstGeom prst="rect">
            <a:avLst/>
          </a:prstGeom>
          <a:solidFill>
            <a:srgbClr val="1A2F5E">
              <a:alpha val="7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8800"/>
            <a:ext cx="12191970" cy="246888"/>
          </a:xfrm>
          <a:prstGeom prst="rect">
            <a:avLst/>
          </a:prstGeom>
          <a:solidFill>
            <a:srgbClr val="1A2F5E">
              <a:alpha val="7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57400"/>
            <a:ext cx="12191970" cy="246888"/>
          </a:xfrm>
          <a:prstGeom prst="rect">
            <a:avLst/>
          </a:prstGeom>
          <a:solidFill>
            <a:srgbClr val="1A2F5E">
              <a:alpha val="6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286000"/>
            <a:ext cx="12191970" cy="246888"/>
          </a:xfrm>
          <a:prstGeom prst="rect">
            <a:avLst/>
          </a:prstGeom>
          <a:solidFill>
            <a:srgbClr val="1A2F5E">
              <a:alpha val="6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14600"/>
            <a:ext cx="12191970" cy="246888"/>
          </a:xfrm>
          <a:prstGeom prst="rect">
            <a:avLst/>
          </a:prstGeom>
          <a:solidFill>
            <a:srgbClr val="1A2F5E">
              <a:alpha val="6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743200"/>
            <a:ext cx="12191970" cy="246888"/>
          </a:xfrm>
          <a:prstGeom prst="rect">
            <a:avLst/>
          </a:prstGeom>
          <a:solidFill>
            <a:srgbClr val="1A2F5E">
              <a:alpha val="59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971800"/>
            <a:ext cx="12191970" cy="246888"/>
          </a:xfrm>
          <a:prstGeom prst="rect">
            <a:avLst/>
          </a:prstGeom>
          <a:solidFill>
            <a:srgbClr val="1A2F5E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3200400"/>
            <a:ext cx="12191970" cy="246888"/>
          </a:xfrm>
          <a:prstGeom prst="rect">
            <a:avLst/>
          </a:prstGeom>
          <a:solidFill>
            <a:srgbClr val="1A2F5E">
              <a:alpha val="5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3429000"/>
            <a:ext cx="12191970" cy="246888"/>
          </a:xfrm>
          <a:prstGeom prst="rect">
            <a:avLst/>
          </a:prstGeom>
          <a:solidFill>
            <a:srgbClr val="1A2F5E">
              <a:alpha val="4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3657600"/>
            <a:ext cx="12191970" cy="246888"/>
          </a:xfrm>
          <a:prstGeom prst="rect">
            <a:avLst/>
          </a:prstGeom>
          <a:solidFill>
            <a:srgbClr val="1A2F5E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3886200"/>
            <a:ext cx="12191970" cy="246888"/>
          </a:xfrm>
          <a:prstGeom prst="rect">
            <a:avLst/>
          </a:prstGeom>
          <a:solidFill>
            <a:srgbClr val="1A2F5E">
              <a:alpha val="41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4114800"/>
            <a:ext cx="12191970" cy="246888"/>
          </a:xfrm>
          <a:prstGeom prst="rect">
            <a:avLst/>
          </a:prstGeom>
          <a:solidFill>
            <a:srgbClr val="1A2F5E">
              <a:alpha val="3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4343400"/>
            <a:ext cx="12191970" cy="246888"/>
          </a:xfrm>
          <a:prstGeom prst="rect">
            <a:avLst/>
          </a:prstGeom>
          <a:solidFill>
            <a:srgbClr val="1A2F5E">
              <a:alpha val="3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572000"/>
            <a:ext cx="12191970" cy="246888"/>
          </a:xfrm>
          <a:prstGeom prst="rect">
            <a:avLst/>
          </a:prstGeom>
          <a:solidFill>
            <a:srgbClr val="1A2F5E">
              <a:alpha val="31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4800600"/>
            <a:ext cx="12191970" cy="246888"/>
          </a:xfrm>
          <a:prstGeom prst="rect">
            <a:avLst/>
          </a:prstGeom>
          <a:solidFill>
            <a:srgbClr val="1A2F5E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5029200"/>
            <a:ext cx="12191970" cy="246888"/>
          </a:xfrm>
          <a:prstGeom prst="rect">
            <a:avLst/>
          </a:prstGeom>
          <a:solidFill>
            <a:srgbClr val="1A2F5E">
              <a:alpha val="2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257800"/>
            <a:ext cx="12191970" cy="246888"/>
          </a:xfrm>
          <a:prstGeom prst="rect">
            <a:avLst/>
          </a:prstGeom>
          <a:solidFill>
            <a:srgbClr val="1A2F5E">
              <a:alpha val="21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5486400"/>
            <a:ext cx="12191970" cy="246888"/>
          </a:xfrm>
          <a:prstGeom prst="rect">
            <a:avLst/>
          </a:prstGeom>
          <a:solidFill>
            <a:srgbClr val="1A2F5E">
              <a:alpha val="17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5715000"/>
            <a:ext cx="12191970" cy="246888"/>
          </a:xfrm>
          <a:prstGeom prst="rect">
            <a:avLst/>
          </a:prstGeom>
          <a:solidFill>
            <a:srgbClr val="1A2F5E">
              <a:alpha val="1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5943600"/>
            <a:ext cx="12191970" cy="246888"/>
          </a:xfrm>
          <a:prstGeom prst="rect">
            <a:avLst/>
          </a:prstGeom>
          <a:solidFill>
            <a:srgbClr val="1A2F5E">
              <a:alpha val="1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6172200"/>
            <a:ext cx="12191970" cy="246888"/>
          </a:xfrm>
          <a:prstGeom prst="rect">
            <a:avLst/>
          </a:prstGeom>
          <a:solidFill>
            <a:srgbClr val="1A2F5E">
              <a:alpha val="7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400800"/>
            <a:ext cx="12191970" cy="246888"/>
          </a:xfrm>
          <a:prstGeom prst="rect">
            <a:avLst/>
          </a:prstGeom>
          <a:solidFill>
            <a:srgbClr val="1A2F5E">
              <a:alpha val="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6629400"/>
            <a:ext cx="12191970" cy="246888"/>
          </a:xfrm>
          <a:prstGeom prst="rect">
            <a:avLst/>
          </a:prstGeom>
          <a:solidFill>
            <a:srgbClr val="1A2F5E">
              <a:alpha val="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1505907" y="462043"/>
                </a:moveTo>
                <a:lnTo>
                  <a:pt x="3031038" y="462043"/>
                </a:lnTo>
                <a:lnTo>
                  <a:pt x="3204058" y="290326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3194445" y="1561386"/>
                </a:moveTo>
                <a:lnTo>
                  <a:pt x="2534410" y="1561386"/>
                </a:lnTo>
                <a:lnTo>
                  <a:pt x="2528001" y="1568467"/>
                </a:lnTo>
                <a:lnTo>
                  <a:pt x="2505573" y="1557845"/>
                </a:lnTo>
                <a:lnTo>
                  <a:pt x="2502369" y="1545453"/>
                </a:lnTo>
                <a:lnTo>
                  <a:pt x="2310126" y="1354263"/>
                </a:lnTo>
                <a:lnTo>
                  <a:pt x="1541152" y="1354263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3200854" y="1051545"/>
                </a:moveTo>
                <a:lnTo>
                  <a:pt x="3063079" y="1187857"/>
                </a:lnTo>
                <a:lnTo>
                  <a:pt x="2300513" y="1187857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3194445" y="7081"/>
                </a:moveTo>
                <a:lnTo>
                  <a:pt x="2592083" y="7081"/>
                </a:lnTo>
                <a:lnTo>
                  <a:pt x="2262065" y="336353"/>
                </a:lnTo>
                <a:lnTo>
                  <a:pt x="839463" y="336353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3184833" y="616057"/>
                </a:moveTo>
                <a:lnTo>
                  <a:pt x="3184833" y="631989"/>
                </a:lnTo>
                <a:lnTo>
                  <a:pt x="2797142" y="1019680"/>
                </a:lnTo>
                <a:lnTo>
                  <a:pt x="2640143" y="1019680"/>
                </a:lnTo>
                <a:lnTo>
                  <a:pt x="2431880" y="812558"/>
                </a:lnTo>
                <a:lnTo>
                  <a:pt x="1887190" y="812558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3184833" y="616057"/>
                </a:moveTo>
                <a:lnTo>
                  <a:pt x="935585" y="616057"/>
                </a:lnTo>
                <a:lnTo>
                  <a:pt x="509445" y="1044464"/>
                </a:lnTo>
                <a:lnTo>
                  <a:pt x="140979" y="1044464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448568" y="1561386"/>
                </a:moveTo>
                <a:lnTo>
                  <a:pt x="977238" y="1561386"/>
                </a:lnTo>
                <a:lnTo>
                  <a:pt x="1352112" y="1187857"/>
                </a:lnTo>
                <a:lnTo>
                  <a:pt x="2053801" y="1187857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2156331" y="1561386"/>
                </a:moveTo>
                <a:lnTo>
                  <a:pt x="2505573" y="1561386"/>
                </a:lnTo>
                <a:lnTo>
                  <a:pt x="2528001" y="1568467"/>
                </a:lnTo>
                <a:lnTo>
                  <a:pt x="2720245" y="1766738"/>
                </a:lnTo>
                <a:lnTo>
                  <a:pt x="3191241" y="1766738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3204" y="1295844"/>
                </a:moveTo>
                <a:lnTo>
                  <a:pt x="608771" y="1295844"/>
                </a:lnTo>
                <a:lnTo>
                  <a:pt x="1095788" y="809017"/>
                </a:lnTo>
                <a:lnTo>
                  <a:pt x="1589213" y="809017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2809959" y="1186087"/>
                </a:moveTo>
                <a:lnTo>
                  <a:pt x="2646552" y="1023221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2819571" y="1189627"/>
                </a:moveTo>
                <a:lnTo>
                  <a:pt x="3011814" y="1389669"/>
                </a:lnTo>
                <a:lnTo>
                  <a:pt x="3194445" y="1389669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36431" y="-525780"/>
            <a:ext cx="3204058" cy="1770278"/>
          </a:xfrm>
          <a:custGeom>
            <a:avLst/>
            <a:gdLst/>
            <a:ahLst/>
            <a:cxnLst/>
            <a:rect l="l" t="t" r="r" b="b"/>
            <a:pathLst>
              <a:path w="3204058" h="1770278">
                <a:moveTo>
                  <a:pt x="2640143" y="1016140"/>
                </a:moveTo>
                <a:lnTo>
                  <a:pt x="1204726" y="1016140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84325" y="692581"/>
            <a:ext cx="108938" cy="108938"/>
          </a:xfrm>
          <a:prstGeom prst="ellipse">
            <a:avLst/>
          </a:prstGeom>
          <a:solidFill>
            <a:srgbClr val="4C7DF0"/>
          </a:solidFill>
          <a:ln/>
        </p:spPr>
      </p:sp>
      <p:sp>
        <p:nvSpPr>
          <p:cNvPr id="45" name="Shape 43"/>
          <p:cNvSpPr/>
          <p:nvPr/>
        </p:nvSpPr>
        <p:spPr>
          <a:xfrm>
            <a:off x="9484325" y="711293"/>
            <a:ext cx="128162" cy="128162"/>
          </a:xfrm>
          <a:prstGeom prst="ellipse">
            <a:avLst/>
          </a:prstGeom>
          <a:solidFill>
            <a:srgbClr val="4C7DF0"/>
          </a:solidFill>
          <a:ln/>
        </p:spPr>
      </p:sp>
      <p:sp>
        <p:nvSpPr>
          <p:cNvPr id="46" name="Shape 44"/>
          <p:cNvSpPr/>
          <p:nvPr/>
        </p:nvSpPr>
        <p:spPr>
          <a:xfrm>
            <a:off x="9711813" y="-256712"/>
            <a:ext cx="134570" cy="134570"/>
          </a:xfrm>
          <a:prstGeom prst="ellipse">
            <a:avLst/>
          </a:prstGeom>
          <a:ln w="11430">
            <a:solidFill>
              <a:srgbClr val="4C7D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381461" y="-132793"/>
            <a:ext cx="134570" cy="134570"/>
          </a:xfrm>
          <a:prstGeom prst="ellipse">
            <a:avLst/>
          </a:prstGeom>
          <a:ln w="11430">
            <a:solidFill>
              <a:srgbClr val="4C7D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413502" y="759427"/>
            <a:ext cx="134570" cy="134570"/>
          </a:xfrm>
          <a:prstGeom prst="ellipse">
            <a:avLst/>
          </a:prstGeom>
          <a:ln w="11430">
            <a:solidFill>
              <a:srgbClr val="4C7D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102374" y="585179"/>
            <a:ext cx="153795" cy="153795"/>
          </a:xfrm>
          <a:prstGeom prst="ellipse">
            <a:avLst/>
          </a:prstGeom>
          <a:solidFill>
            <a:srgbClr val="4C7DF0"/>
          </a:solidFill>
          <a:ln/>
        </p:spPr>
      </p:sp>
      <p:sp>
        <p:nvSpPr>
          <p:cNvPr id="50" name="Shape 48"/>
          <p:cNvSpPr/>
          <p:nvPr/>
        </p:nvSpPr>
        <p:spPr>
          <a:xfrm>
            <a:off x="-174650" y="5960974"/>
            <a:ext cx="3840480" cy="1338682"/>
          </a:xfrm>
          <a:custGeom>
            <a:avLst/>
            <a:gdLst/>
            <a:ahLst/>
            <a:cxnLst/>
            <a:rect l="l" t="t" r="r" b="b"/>
            <a:pathLst>
              <a:path w="3840480" h="1338682">
                <a:moveTo>
                  <a:pt x="979322" y="1334666"/>
                </a:moveTo>
                <a:lnTo>
                  <a:pt x="1344168" y="969205"/>
                </a:lnTo>
                <a:lnTo>
                  <a:pt x="1877995" y="969205"/>
                </a:lnTo>
                <a:lnTo>
                  <a:pt x="2219797" y="629180"/>
                </a:lnTo>
                <a:lnTo>
                  <a:pt x="2327331" y="629180"/>
                </a:lnTo>
                <a:lnTo>
                  <a:pt x="2327331" y="642567"/>
                </a:lnTo>
                <a:lnTo>
                  <a:pt x="2442545" y="757694"/>
                </a:lnTo>
                <a:lnTo>
                  <a:pt x="2784348" y="757694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-174650" y="5960974"/>
            <a:ext cx="3840480" cy="1338682"/>
          </a:xfrm>
          <a:custGeom>
            <a:avLst/>
            <a:gdLst/>
            <a:ahLst/>
            <a:cxnLst/>
            <a:rect l="l" t="t" r="r" b="b"/>
            <a:pathLst>
              <a:path w="3840480" h="1338682">
                <a:moveTo>
                  <a:pt x="7681" y="4016"/>
                </a:moveTo>
                <a:lnTo>
                  <a:pt x="649041" y="646583"/>
                </a:lnTo>
                <a:lnTo>
                  <a:pt x="902513" y="646583"/>
                </a:lnTo>
                <a:lnTo>
                  <a:pt x="1063813" y="484603"/>
                </a:lnTo>
                <a:lnTo>
                  <a:pt x="1405616" y="484603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-174650" y="5960974"/>
            <a:ext cx="3840480" cy="1338682"/>
          </a:xfrm>
          <a:custGeom>
            <a:avLst/>
            <a:gdLst/>
            <a:ahLst/>
            <a:cxnLst/>
            <a:rect l="l" t="t" r="r" b="b"/>
            <a:pathLst>
              <a:path w="3840480" h="1338682">
                <a:moveTo>
                  <a:pt x="1417137" y="480587"/>
                </a:moveTo>
                <a:lnTo>
                  <a:pt x="1490106" y="408298"/>
                </a:lnTo>
                <a:lnTo>
                  <a:pt x="2093062" y="408298"/>
                </a:lnTo>
                <a:lnTo>
                  <a:pt x="2311969" y="629180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-174650" y="5960974"/>
            <a:ext cx="3840480" cy="1338682"/>
          </a:xfrm>
          <a:custGeom>
            <a:avLst/>
            <a:gdLst/>
            <a:ahLst/>
            <a:cxnLst/>
            <a:rect l="l" t="t" r="r" b="b"/>
            <a:pathLst>
              <a:path w="3840480" h="1338682">
                <a:moveTo>
                  <a:pt x="1835749" y="745646"/>
                </a:moveTo>
                <a:lnTo>
                  <a:pt x="1724376" y="858095"/>
                </a:lnTo>
                <a:lnTo>
                  <a:pt x="1021568" y="858095"/>
                </a:lnTo>
                <a:lnTo>
                  <a:pt x="729691" y="1149927"/>
                </a:lnTo>
                <a:lnTo>
                  <a:pt x="664403" y="1178040"/>
                </a:lnTo>
                <a:lnTo>
                  <a:pt x="3840" y="1178040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-174650" y="5960974"/>
            <a:ext cx="3840480" cy="1338682"/>
          </a:xfrm>
          <a:custGeom>
            <a:avLst/>
            <a:gdLst/>
            <a:ahLst/>
            <a:cxnLst/>
            <a:rect l="l" t="t" r="r" b="b"/>
            <a:pathLst>
              <a:path w="3840480" h="1338682">
                <a:moveTo>
                  <a:pt x="729691" y="1149927"/>
                </a:moveTo>
                <a:lnTo>
                  <a:pt x="741213" y="1176701"/>
                </a:lnTo>
                <a:lnTo>
                  <a:pt x="722010" y="1214184"/>
                </a:lnTo>
                <a:lnTo>
                  <a:pt x="679765" y="1214184"/>
                </a:lnTo>
                <a:lnTo>
                  <a:pt x="664403" y="1176701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-174650" y="5960974"/>
            <a:ext cx="3840480" cy="1338682"/>
          </a:xfrm>
          <a:custGeom>
            <a:avLst/>
            <a:gdLst/>
            <a:ahLst/>
            <a:cxnLst/>
            <a:rect l="l" t="t" r="r" b="b"/>
            <a:pathLst>
              <a:path w="3840480" h="1338682">
                <a:moveTo>
                  <a:pt x="1835749" y="738952"/>
                </a:moveTo>
                <a:lnTo>
                  <a:pt x="2054657" y="520747"/>
                </a:lnTo>
                <a:lnTo>
                  <a:pt x="2530876" y="520747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-174650" y="5960974"/>
            <a:ext cx="3840480" cy="1338682"/>
          </a:xfrm>
          <a:custGeom>
            <a:avLst/>
            <a:gdLst/>
            <a:ahLst/>
            <a:cxnLst/>
            <a:rect l="l" t="t" r="r" b="b"/>
            <a:pathLst>
              <a:path w="3840480" h="1338682">
                <a:moveTo>
                  <a:pt x="2327331" y="630519"/>
                </a:moveTo>
                <a:lnTo>
                  <a:pt x="3202960" y="630519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-174650" y="5960974"/>
            <a:ext cx="3840480" cy="1338682"/>
          </a:xfrm>
          <a:custGeom>
            <a:avLst/>
            <a:gdLst/>
            <a:ahLst/>
            <a:cxnLst/>
            <a:rect l="l" t="t" r="r" b="b"/>
            <a:pathLst>
              <a:path w="3840480" h="1338682">
                <a:moveTo>
                  <a:pt x="3840480" y="615794"/>
                </a:moveTo>
                <a:lnTo>
                  <a:pt x="3625413" y="615794"/>
                </a:lnTo>
                <a:lnTo>
                  <a:pt x="3364260" y="875498"/>
                </a:lnTo>
                <a:lnTo>
                  <a:pt x="1974007" y="875498"/>
                </a:lnTo>
                <a:lnTo>
                  <a:pt x="1578437" y="479248"/>
                </a:lnTo>
                <a:lnTo>
                  <a:pt x="1417137" y="479248"/>
                </a:lnTo>
                <a:lnTo>
                  <a:pt x="1251996" y="647922"/>
                </a:lnTo>
                <a:lnTo>
                  <a:pt x="890991" y="647922"/>
                </a:lnTo>
                <a:lnTo>
                  <a:pt x="764256" y="773758"/>
                </a:lnTo>
                <a:lnTo>
                  <a:pt x="453177" y="773758"/>
                </a:lnTo>
              </a:path>
            </a:pathLst>
          </a:custGeom>
          <a:ln w="11430">
            <a:solidFill>
              <a:srgbClr val="4C7D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22694" y="6637491"/>
            <a:ext cx="138257" cy="138257"/>
          </a:xfrm>
          <a:prstGeom prst="ellipse">
            <a:avLst/>
          </a:prstGeom>
          <a:solidFill>
            <a:srgbClr val="4C7DF0"/>
          </a:solidFill>
          <a:ln/>
        </p:spPr>
      </p:sp>
      <p:sp>
        <p:nvSpPr>
          <p:cNvPr id="59" name="Shape 57"/>
          <p:cNvSpPr/>
          <p:nvPr/>
        </p:nvSpPr>
        <p:spPr>
          <a:xfrm>
            <a:off x="1591970" y="6608040"/>
            <a:ext cx="138257" cy="138257"/>
          </a:xfrm>
          <a:prstGeom prst="ellipse">
            <a:avLst/>
          </a:prstGeom>
          <a:solidFill>
            <a:srgbClr val="4C7DF0"/>
          </a:solidFill>
          <a:ln/>
        </p:spPr>
      </p:sp>
      <p:sp>
        <p:nvSpPr>
          <p:cNvPr id="60" name="Shape 58"/>
          <p:cNvSpPr/>
          <p:nvPr/>
        </p:nvSpPr>
        <p:spPr>
          <a:xfrm>
            <a:off x="1591970" y="6666942"/>
            <a:ext cx="138257" cy="138257"/>
          </a:xfrm>
          <a:prstGeom prst="ellipse">
            <a:avLst/>
          </a:prstGeom>
          <a:solidFill>
            <a:srgbClr val="4C7DF0"/>
          </a:solidFill>
          <a:ln/>
        </p:spPr>
      </p:sp>
      <p:sp>
        <p:nvSpPr>
          <p:cNvPr id="61" name="Shape 59"/>
          <p:cNvSpPr/>
          <p:nvPr/>
        </p:nvSpPr>
        <p:spPr>
          <a:xfrm>
            <a:off x="1565087" y="6637491"/>
            <a:ext cx="138257" cy="138257"/>
          </a:xfrm>
          <a:prstGeom prst="ellipse">
            <a:avLst/>
          </a:prstGeom>
          <a:solidFill>
            <a:srgbClr val="4C7DF0"/>
          </a:solidFill>
          <a:ln/>
        </p:spPr>
      </p:sp>
      <p:sp>
        <p:nvSpPr>
          <p:cNvPr id="62" name="Shape 60"/>
          <p:cNvSpPr/>
          <p:nvPr/>
        </p:nvSpPr>
        <p:spPr>
          <a:xfrm>
            <a:off x="1169518" y="6352703"/>
            <a:ext cx="153619" cy="153619"/>
          </a:xfrm>
          <a:prstGeom prst="ellipse">
            <a:avLst/>
          </a:prstGeom>
          <a:ln w="11430">
            <a:solidFill>
              <a:srgbClr val="4C7D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57996" y="6378489"/>
            <a:ext cx="168981" cy="168981"/>
          </a:xfrm>
          <a:prstGeom prst="ellipse">
            <a:avLst/>
          </a:prstGeom>
          <a:solidFill>
            <a:srgbClr val="4C7DF0"/>
          </a:solidFill>
          <a:ln/>
        </p:spPr>
      </p:sp>
      <p:sp>
        <p:nvSpPr>
          <p:cNvPr id="64" name="Shape 62"/>
          <p:cNvSpPr/>
          <p:nvPr/>
        </p:nvSpPr>
        <p:spPr>
          <a:xfrm>
            <a:off x="439826" y="7040960"/>
            <a:ext cx="161300" cy="161300"/>
          </a:xfrm>
          <a:prstGeom prst="ellipse">
            <a:avLst/>
          </a:prstGeom>
          <a:solidFill>
            <a:srgbClr val="4C7DF0"/>
          </a:solidFill>
          <a:ln/>
        </p:spPr>
      </p:sp>
      <p:sp>
        <p:nvSpPr>
          <p:cNvPr id="65" name="Shape 63"/>
          <p:cNvSpPr/>
          <p:nvPr/>
        </p:nvSpPr>
        <p:spPr>
          <a:xfrm>
            <a:off x="11831422" y="0"/>
            <a:ext cx="239573" cy="6858000"/>
          </a:xfrm>
          <a:prstGeom prst="rect">
            <a:avLst/>
          </a:prstGeom>
          <a:solidFill>
            <a:srgbClr val="2D4C8C">
              <a:alpha val="4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22960" y="68580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73152" y="0"/>
                </a:moveTo>
                <a:lnTo>
                  <a:pt x="384048" y="0"/>
                </a:lnTo>
                <a:lnTo>
                  <a:pt x="384048" y="310896"/>
                </a:lnTo>
                <a:lnTo>
                  <a:pt x="310896" y="384048"/>
                </a:lnTo>
                <a:lnTo>
                  <a:pt x="0" y="384048"/>
                </a:lnTo>
                <a:lnTo>
                  <a:pt x="0" y="73152"/>
                </a:lnTo>
                <a:close/>
              </a:path>
            </a:pathLst>
          </a:custGeom>
          <a:solidFill>
            <a:srgbClr val="9B7BF0"/>
          </a:solidFill>
          <a:ln/>
        </p:spPr>
      </p:sp>
      <p:sp>
        <p:nvSpPr>
          <p:cNvPr id="67" name="Shape 65"/>
          <p:cNvSpPr/>
          <p:nvPr/>
        </p:nvSpPr>
        <p:spPr>
          <a:xfrm>
            <a:off x="1325880" y="68580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73152" y="0"/>
                </a:moveTo>
                <a:lnTo>
                  <a:pt x="384048" y="0"/>
                </a:lnTo>
                <a:lnTo>
                  <a:pt x="384048" y="310896"/>
                </a:lnTo>
                <a:lnTo>
                  <a:pt x="310896" y="384048"/>
                </a:lnTo>
                <a:lnTo>
                  <a:pt x="0" y="384048"/>
                </a:lnTo>
                <a:lnTo>
                  <a:pt x="0" y="73152"/>
                </a:lnTo>
                <a:close/>
              </a:path>
            </a:pathLst>
          </a:custGeom>
          <a:solidFill>
            <a:srgbClr val="3CC48E"/>
          </a:solidFill>
          <a:ln/>
        </p:spPr>
      </p:sp>
      <p:sp>
        <p:nvSpPr>
          <p:cNvPr id="68" name="Shape 66"/>
          <p:cNvSpPr/>
          <p:nvPr/>
        </p:nvSpPr>
        <p:spPr>
          <a:xfrm>
            <a:off x="1828800" y="68580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73152" y="0"/>
                </a:moveTo>
                <a:lnTo>
                  <a:pt x="384048" y="0"/>
                </a:lnTo>
                <a:lnTo>
                  <a:pt x="384048" y="310896"/>
                </a:lnTo>
                <a:lnTo>
                  <a:pt x="310896" y="384048"/>
                </a:lnTo>
                <a:lnTo>
                  <a:pt x="0" y="384048"/>
                </a:lnTo>
                <a:lnTo>
                  <a:pt x="0" y="73152"/>
                </a:lnTo>
                <a:close/>
              </a:path>
            </a:pathLst>
          </a:custGeom>
          <a:solidFill>
            <a:srgbClr val="4A9BF5"/>
          </a:solidFill>
          <a:ln/>
        </p:spPr>
      </p:sp>
      <p:sp>
        <p:nvSpPr>
          <p:cNvPr id="69" name="Shape 67"/>
          <p:cNvSpPr/>
          <p:nvPr/>
        </p:nvSpPr>
        <p:spPr>
          <a:xfrm>
            <a:off x="2331720" y="68580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73152" y="0"/>
                </a:moveTo>
                <a:lnTo>
                  <a:pt x="384048" y="0"/>
                </a:lnTo>
                <a:lnTo>
                  <a:pt x="384048" y="310896"/>
                </a:lnTo>
                <a:lnTo>
                  <a:pt x="310896" y="384048"/>
                </a:lnTo>
                <a:lnTo>
                  <a:pt x="0" y="384048"/>
                </a:lnTo>
                <a:lnTo>
                  <a:pt x="0" y="73152"/>
                </a:lnTo>
                <a:close/>
              </a:path>
            </a:pathLst>
          </a:custGeom>
          <a:solidFill>
            <a:srgbClr val="F5C542"/>
          </a:solidFill>
          <a:ln/>
        </p:spPr>
      </p:sp>
      <p:sp>
        <p:nvSpPr>
          <p:cNvPr id="70" name="Text 68"/>
          <p:cNvSpPr/>
          <p:nvPr/>
        </p:nvSpPr>
        <p:spPr>
          <a:xfrm>
            <a:off x="822960" y="1325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まとめと今後</a:t>
            </a:r>
            <a:endParaRPr lang="en-US" sz="36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822960" y="2103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9BFEA"/>
                </a:solidFill>
                <a:latin typeface="Noto Sans CJK JP"/>
                <a:ea typeface="Noto Sans CJK JP"/>
                <a:cs typeface="Noto Sans CJK JP"/>
              </a:rPr>
              <a:t>一人で考える時間を、チームで考える時間に。</a:t>
            </a:r>
            <a:endParaRPr lang="en-US" sz="22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822960" y="2880360"/>
            <a:ext cx="10515600" cy="1005840"/>
          </a:xfrm>
          <a:custGeom>
            <a:avLst/>
            <a:gdLst/>
            <a:ahLst/>
            <a:cxnLst/>
            <a:rect l="l" t="t" r="r" b="b"/>
            <a:pathLst>
              <a:path w="10515600" h="1005840">
                <a:moveTo>
                  <a:pt x="201168" y="0"/>
                </a:moveTo>
                <a:lnTo>
                  <a:pt x="10332720" y="0"/>
                </a:lnTo>
                <a:lnTo>
                  <a:pt x="10515600" y="182880"/>
                </a:lnTo>
                <a:lnTo>
                  <a:pt x="10515600" y="822960"/>
                </a:lnTo>
                <a:lnTo>
                  <a:pt x="10332720" y="1005840"/>
                </a:lnTo>
                <a:lnTo>
                  <a:pt x="201168" y="1005840"/>
                </a:lnTo>
                <a:lnTo>
                  <a:pt x="0" y="804672"/>
                </a:lnTo>
                <a:lnTo>
                  <a:pt x="0" y="201168"/>
                </a:lnTo>
                <a:close/>
              </a:path>
            </a:pathLst>
          </a:custGeom>
          <a:solidFill>
            <a:srgbClr val="1A2F5E"/>
          </a:solidFill>
          <a:ln w="19050">
            <a:solidFill>
              <a:srgbClr val="4C7D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51560" y="310896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109728" y="0"/>
                </a:moveTo>
                <a:lnTo>
                  <a:pt x="438912" y="0"/>
                </a:lnTo>
                <a:lnTo>
                  <a:pt x="548640" y="109728"/>
                </a:lnTo>
                <a:lnTo>
                  <a:pt x="548640" y="438912"/>
                </a:lnTo>
                <a:lnTo>
                  <a:pt x="438912" y="548640"/>
                </a:lnTo>
                <a:lnTo>
                  <a:pt x="109728" y="548640"/>
                </a:lnTo>
                <a:lnTo>
                  <a:pt x="0" y="438912"/>
                </a:lnTo>
                <a:lnTo>
                  <a:pt x="0" y="109728"/>
                </a:lnTo>
                <a:close/>
              </a:path>
            </a:pathLst>
          </a:custGeom>
          <a:solidFill>
            <a:srgbClr val="4C7DF0"/>
          </a:solidFill>
          <a:ln/>
        </p:spPr>
      </p:sp>
      <p:sp>
        <p:nvSpPr>
          <p:cNvPr id="74" name="Text 72"/>
          <p:cNvSpPr/>
          <p:nvPr/>
        </p:nvSpPr>
        <p:spPr>
          <a:xfrm>
            <a:off x="105156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</a:t>
            </a:r>
            <a:endParaRPr lang="en-US" sz="20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1828800" y="28803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GitHub公開済み</a:t>
            </a:r>
            <a:endParaRPr lang="en-US" sz="21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6" name="Text 74">
            <a:hlinkClick r:id="rId1" tooltip=""/>
          </p:cNvPr>
          <p:cNvSpPr/>
          <p:nvPr/>
        </p:nvSpPr>
        <p:spPr>
          <a:xfrm>
            <a:off x="5760720" y="288036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A9BFEA"/>
                </a:solidFill>
                <a:latin typeface="Noto Sans CJK JP"/>
                <a:ea typeface="Noto Sans CJK JP"/>
                <a:cs typeface="Noto Sans CJK JP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https://github.com/silloi/mbti-bot-hub</a:t>
            </a:r>
            <a:endParaRPr lang="en-US" sz="17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822960" y="4069080"/>
            <a:ext cx="10515600" cy="1005840"/>
          </a:xfrm>
          <a:custGeom>
            <a:avLst/>
            <a:gdLst/>
            <a:ahLst/>
            <a:cxnLst/>
            <a:rect l="l" t="t" r="r" b="b"/>
            <a:pathLst>
              <a:path w="10515600" h="1005840">
                <a:moveTo>
                  <a:pt x="201168" y="0"/>
                </a:moveTo>
                <a:lnTo>
                  <a:pt x="10332720" y="0"/>
                </a:lnTo>
                <a:lnTo>
                  <a:pt x="10515600" y="182880"/>
                </a:lnTo>
                <a:lnTo>
                  <a:pt x="10515600" y="822960"/>
                </a:lnTo>
                <a:lnTo>
                  <a:pt x="10332720" y="1005840"/>
                </a:lnTo>
                <a:lnTo>
                  <a:pt x="201168" y="1005840"/>
                </a:lnTo>
                <a:lnTo>
                  <a:pt x="0" y="804672"/>
                </a:lnTo>
                <a:lnTo>
                  <a:pt x="0" y="201168"/>
                </a:lnTo>
                <a:close/>
              </a:path>
            </a:pathLst>
          </a:custGeom>
          <a:solidFill>
            <a:srgbClr val="1A2F5E"/>
          </a:solidFill>
          <a:ln w="19050">
            <a:solidFill>
              <a:srgbClr val="4C7D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51560" y="429768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109728" y="0"/>
                </a:moveTo>
                <a:lnTo>
                  <a:pt x="438912" y="0"/>
                </a:lnTo>
                <a:lnTo>
                  <a:pt x="548640" y="109728"/>
                </a:lnTo>
                <a:lnTo>
                  <a:pt x="548640" y="438912"/>
                </a:lnTo>
                <a:lnTo>
                  <a:pt x="438912" y="548640"/>
                </a:lnTo>
                <a:lnTo>
                  <a:pt x="109728" y="548640"/>
                </a:lnTo>
                <a:lnTo>
                  <a:pt x="0" y="438912"/>
                </a:lnTo>
                <a:lnTo>
                  <a:pt x="0" y="109728"/>
                </a:lnTo>
                <a:close/>
              </a:path>
            </a:pathLst>
          </a:custGeom>
          <a:solidFill>
            <a:srgbClr val="4C7DF0"/>
          </a:solidFill>
          <a:ln/>
        </p:spPr>
      </p:sp>
      <p:sp>
        <p:nvSpPr>
          <p:cNvPr id="79" name="Text 77"/>
          <p:cNvSpPr/>
          <p:nvPr/>
        </p:nvSpPr>
        <p:spPr>
          <a:xfrm>
            <a:off x="105156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</a:t>
            </a:r>
            <a:endParaRPr lang="en-US" sz="20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1828800" y="4069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Botテンプレート公開済み</a:t>
            </a:r>
            <a:endParaRPr lang="en-US" sz="21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1" name="Text 79">
            <a:hlinkClick r:id="rId2" tooltip=""/>
          </p:cNvPr>
          <p:cNvSpPr/>
          <p:nvPr/>
        </p:nvSpPr>
        <p:spPr>
          <a:xfrm>
            <a:off x="5760720" y="41788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A9BFEA"/>
                </a:solidFill>
                <a:latin typeface="Noto Sans CJK JP"/>
                <a:ea typeface="Noto Sans CJK JP"/>
                <a:cs typeface="Noto Sans CJK JP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https://x.ai/bot/Fwf_OUvMYPcvVkKsy9jNd</a:t>
            </a:r>
            <a:endParaRPr lang="en-US" sz="17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5760720" y="4617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E"/>
                </a:solidFill>
                <a:latin typeface="Noto Sans CJK JP"/>
                <a:ea typeface="Noto Sans CJK JP"/>
                <a:cs typeface="Noto Sans CJK JP"/>
              </a:rPr>
              <a:t>追加するとMBTIを聞かれ、相性チームが自動でできる</a:t>
            </a:r>
            <a:endParaRPr lang="en-US" sz="14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822960" y="5257800"/>
            <a:ext cx="10515600" cy="1005840"/>
          </a:xfrm>
          <a:custGeom>
            <a:avLst/>
            <a:gdLst/>
            <a:ahLst/>
            <a:cxnLst/>
            <a:rect l="l" t="t" r="r" b="b"/>
            <a:pathLst>
              <a:path w="10515600" h="1005840">
                <a:moveTo>
                  <a:pt x="201168" y="0"/>
                </a:moveTo>
                <a:lnTo>
                  <a:pt x="10332720" y="0"/>
                </a:lnTo>
                <a:lnTo>
                  <a:pt x="10515600" y="182880"/>
                </a:lnTo>
                <a:lnTo>
                  <a:pt x="10515600" y="822960"/>
                </a:lnTo>
                <a:lnTo>
                  <a:pt x="10332720" y="1005840"/>
                </a:lnTo>
                <a:lnTo>
                  <a:pt x="201168" y="1005840"/>
                </a:lnTo>
                <a:lnTo>
                  <a:pt x="0" y="804672"/>
                </a:lnTo>
                <a:lnTo>
                  <a:pt x="0" y="201168"/>
                </a:lnTo>
                <a:close/>
              </a:path>
            </a:pathLst>
          </a:custGeom>
          <a:solidFill>
            <a:srgbClr val="1A2F5E"/>
          </a:solidFill>
          <a:ln w="19050">
            <a:solidFill>
              <a:srgbClr val="4C7D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51560" y="54864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109728" y="0"/>
                </a:moveTo>
                <a:lnTo>
                  <a:pt x="438912" y="0"/>
                </a:lnTo>
                <a:lnTo>
                  <a:pt x="548640" y="109728"/>
                </a:lnTo>
                <a:lnTo>
                  <a:pt x="548640" y="438912"/>
                </a:lnTo>
                <a:lnTo>
                  <a:pt x="438912" y="548640"/>
                </a:lnTo>
                <a:lnTo>
                  <a:pt x="109728" y="548640"/>
                </a:lnTo>
                <a:lnTo>
                  <a:pt x="0" y="438912"/>
                </a:lnTo>
                <a:lnTo>
                  <a:pt x="0" y="109728"/>
                </a:lnTo>
                <a:close/>
              </a:path>
            </a:pathLst>
          </a:custGeom>
          <a:solidFill>
            <a:srgbClr val="4C7DF0"/>
          </a:solidFill>
          <a:ln/>
        </p:spPr>
      </p:sp>
      <p:sp>
        <p:nvSpPr>
          <p:cNvPr id="85" name="Text 83"/>
          <p:cNvSpPr/>
          <p:nvPr/>
        </p:nvSpPr>
        <p:spPr>
          <a:xfrm>
            <a:off x="1051560" y="5486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</a:t>
            </a:r>
            <a:endParaRPr lang="en-US" sz="2000" dirty="0"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1828800" y="52578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このスライドをもとに動画化</a:t>
            </a:r>
            <a:endParaRPr lang="en-US" sz="2100" dirty="0">
              <a:latin typeface="Noto Sans CJK JP"/>
              <a:ea typeface="Noto Sans CJK JP"/>
              <a:cs typeface="Noto Sans CJK JP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Noto Sans CJK JP"/>
        <a:cs typeface="Noto Sans CJK JP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Noto Sans CJK JP"/>
        <a:cs typeface="Noto Sans CJK JP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MBTI Bot Hub</dc:title>
  <dc:subject>PptxGenJS Presentation</dc:subject>
  <dc:creator/>
  <cp:lastModifiedBy/>
  <cp:revision>1</cp:revision>
  <dcterms:created xsi:type="dcterms:W3CDTF">2026-10-11T06:30:28Z</dcterms:created>
  <dcterms:modified xsi:type="dcterms:W3CDTF">2026-10-11T06:30:28Z</dcterms:modified>
</cp:coreProperties>
</file>